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78" r:id="rId14"/>
    <p:sldId id="279" r:id="rId15"/>
    <p:sldId id="280" r:id="rId16"/>
    <p:sldId id="271" r:id="rId17"/>
    <p:sldId id="275" r:id="rId18"/>
    <p:sldId id="276" r:id="rId19"/>
    <p:sldId id="273" r:id="rId20"/>
    <p:sldId id="274" r:id="rId21"/>
    <p:sldId id="268" r:id="rId22"/>
    <p:sldId id="270" r:id="rId23"/>
    <p:sldId id="272" r:id="rId24"/>
    <p:sldId id="269" r:id="rId25"/>
    <p:sldId id="277" r:id="rId26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34" autoAdjust="0"/>
    <p:restoredTop sz="94660"/>
  </p:normalViewPr>
  <p:slideViewPr>
    <p:cSldViewPr snapToGrid="0">
      <p:cViewPr varScale="1">
        <p:scale>
          <a:sx n="85" d="100"/>
          <a:sy n="85" d="100"/>
        </p:scale>
        <p:origin x="5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972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2271" y="397934"/>
            <a:ext cx="9601196" cy="91328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587260"/>
            <a:ext cx="9601196" cy="42886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1396169" y="1124791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8104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080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77695" y="149843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0746" y="508384"/>
            <a:ext cx="9601196" cy="9063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1699404"/>
            <a:ext cx="4718304" cy="417104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1699404"/>
            <a:ext cx="4718304" cy="4171044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57578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43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542186"/>
            <a:ext cx="9601196" cy="71727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89299" y="142942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583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70673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794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725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8743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0608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7119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52479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956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6120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2225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93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846D0B-E187-4A19-9365-806EEABA7CFD}" type="datetimeFigureOut">
              <a:rPr lang="ro-RO" smtClean="0"/>
              <a:t>02.12.2020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C11DD49-F9CB-4DDD-9CB2-046A192C570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4071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Frecvența</a:t>
            </a:r>
            <a:r>
              <a:rPr lang="en-US" dirty="0" smtClean="0"/>
              <a:t> </a:t>
            </a:r>
            <a:r>
              <a:rPr lang="en-US" dirty="0" err="1" smtClean="0"/>
              <a:t>valorilor</a:t>
            </a:r>
            <a:r>
              <a:rPr lang="en-US" dirty="0" smtClean="0"/>
              <a:t> </a:t>
            </a:r>
            <a:r>
              <a:rPr lang="en-US" dirty="0" err="1" smtClean="0"/>
              <a:t>într</a:t>
            </a:r>
            <a:r>
              <a:rPr lang="en-US" dirty="0" smtClean="0"/>
              <a:t>-un </a:t>
            </a:r>
            <a:r>
              <a:rPr lang="en-US" dirty="0" err="1" smtClean="0"/>
              <a:t>șir</a:t>
            </a:r>
            <a:r>
              <a:rPr lang="en-US" dirty="0" smtClean="0"/>
              <a:t> de </a:t>
            </a:r>
            <a:r>
              <a:rPr lang="en-US" dirty="0" err="1" smtClean="0"/>
              <a:t>valori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specializările</a:t>
            </a:r>
            <a:r>
              <a:rPr lang="en-US" dirty="0" smtClean="0"/>
              <a:t> </a:t>
            </a:r>
            <a:r>
              <a:rPr lang="en-US" dirty="0" err="1" smtClean="0"/>
              <a:t>Matematică-Informatică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</a:t>
            </a:r>
            <a:r>
              <a:rPr lang="en-US" dirty="0" err="1" smtClean="0"/>
              <a:t>Științele</a:t>
            </a:r>
            <a:r>
              <a:rPr lang="en-US" dirty="0" smtClean="0"/>
              <a:t> </a:t>
            </a:r>
            <a:r>
              <a:rPr lang="en-US" dirty="0" err="1" smtClean="0"/>
              <a:t>Naturii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Limbajele</a:t>
            </a:r>
            <a:r>
              <a:rPr lang="en-US" dirty="0" smtClean="0"/>
              <a:t> Pascal </a:t>
            </a:r>
            <a:r>
              <a:rPr lang="en-US" dirty="0" err="1" smtClean="0"/>
              <a:t>și</a:t>
            </a:r>
            <a:r>
              <a:rPr lang="en-US" dirty="0" smtClean="0"/>
              <a:t> C++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68980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Frecvența</a:t>
            </a:r>
            <a:r>
              <a:rPr lang="en-US" dirty="0" smtClean="0"/>
              <a:t> </a:t>
            </a:r>
            <a:r>
              <a:rPr lang="en-US" dirty="0" err="1" smtClean="0"/>
              <a:t>valorilor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Frecvența</a:t>
            </a:r>
            <a:r>
              <a:rPr lang="en-US" dirty="0" smtClean="0"/>
              <a:t> </a:t>
            </a:r>
            <a:r>
              <a:rPr lang="en-US" dirty="0" err="1" smtClean="0"/>
              <a:t>valorilor</a:t>
            </a:r>
            <a:r>
              <a:rPr lang="en-US" dirty="0" smtClean="0"/>
              <a:t> </a:t>
            </a:r>
            <a:r>
              <a:rPr lang="en-US" dirty="0" err="1" smtClean="0"/>
              <a:t>dintr</a:t>
            </a:r>
            <a:r>
              <a:rPr lang="en-US" dirty="0" smtClean="0"/>
              <a:t>-un </a:t>
            </a:r>
            <a:r>
              <a:rPr lang="en-US" dirty="0" err="1" smtClean="0"/>
              <a:t>șir</a:t>
            </a:r>
            <a:r>
              <a:rPr lang="en-US" dirty="0" smtClean="0"/>
              <a:t> de </a:t>
            </a:r>
            <a:r>
              <a:rPr lang="en-US" dirty="0" err="1" smtClean="0"/>
              <a:t>valori</a:t>
            </a:r>
            <a:r>
              <a:rPr lang="en-US" dirty="0" smtClean="0"/>
              <a:t> se </a:t>
            </a:r>
            <a:r>
              <a:rPr lang="en-US" dirty="0" err="1" smtClean="0"/>
              <a:t>poate</a:t>
            </a:r>
            <a:r>
              <a:rPr lang="en-US" dirty="0" smtClean="0"/>
              <a:t> </a:t>
            </a:r>
            <a:r>
              <a:rPr lang="en-US" dirty="0" err="1" smtClean="0"/>
              <a:t>obține</a:t>
            </a:r>
            <a:r>
              <a:rPr lang="en-US" dirty="0" smtClean="0"/>
              <a:t> </a:t>
            </a:r>
            <a:r>
              <a:rPr lang="en-US" dirty="0" err="1" smtClean="0"/>
              <a:t>utilizând</a:t>
            </a:r>
            <a:r>
              <a:rPr lang="en-US" dirty="0" smtClean="0"/>
              <a:t> o </a:t>
            </a:r>
            <a:r>
              <a:rPr lang="en-US" dirty="0" err="1" smtClean="0"/>
              <a:t>structură</a:t>
            </a:r>
            <a:r>
              <a:rPr lang="en-US" dirty="0" smtClean="0"/>
              <a:t> de date </a:t>
            </a:r>
            <a:r>
              <a:rPr lang="en-US" dirty="0" err="1" smtClean="0"/>
              <a:t>pe</a:t>
            </a:r>
            <a:r>
              <a:rPr lang="en-US" dirty="0" smtClean="0"/>
              <a:t> care o </a:t>
            </a:r>
            <a:r>
              <a:rPr lang="en-US" dirty="0" err="1" smtClean="0"/>
              <a:t>vom</a:t>
            </a:r>
            <a:r>
              <a:rPr lang="en-US" dirty="0" smtClean="0"/>
              <a:t> </a:t>
            </a:r>
            <a:r>
              <a:rPr lang="en-US" dirty="0" err="1" smtClean="0"/>
              <a:t>numi</a:t>
            </a:r>
            <a:r>
              <a:rPr lang="en-US" dirty="0" smtClean="0"/>
              <a:t> </a:t>
            </a:r>
            <a:r>
              <a:rPr lang="en-US" dirty="0" err="1" smtClean="0"/>
              <a:t>tablou</a:t>
            </a:r>
            <a:r>
              <a:rPr lang="en-US" dirty="0" smtClean="0"/>
              <a:t> de </a:t>
            </a:r>
            <a:r>
              <a:rPr lang="en-US" dirty="0" err="1" smtClean="0"/>
              <a:t>frecvență</a:t>
            </a:r>
            <a:r>
              <a:rPr lang="en-US" dirty="0" smtClean="0"/>
              <a:t> (</a:t>
            </a:r>
            <a:r>
              <a:rPr lang="en-US" dirty="0" err="1" smtClean="0"/>
              <a:t>cunoscut</a:t>
            </a:r>
            <a:r>
              <a:rPr lang="en-US" dirty="0" smtClean="0"/>
              <a:t> </a:t>
            </a:r>
            <a:r>
              <a:rPr lang="en-US" dirty="0" err="1" smtClean="0"/>
              <a:t>și</a:t>
            </a:r>
            <a:r>
              <a:rPr lang="en-US" dirty="0" smtClean="0"/>
              <a:t> sub </a:t>
            </a:r>
            <a:r>
              <a:rPr lang="en-US" dirty="0" err="1" smtClean="0"/>
              <a:t>denumirea</a:t>
            </a:r>
            <a:r>
              <a:rPr lang="en-US" dirty="0" smtClean="0"/>
              <a:t> de vector de </a:t>
            </a:r>
            <a:r>
              <a:rPr lang="en-US" dirty="0" err="1" smtClean="0"/>
              <a:t>frecvență</a:t>
            </a:r>
            <a:r>
              <a:rPr lang="en-US" dirty="0" smtClean="0"/>
              <a:t>).</a:t>
            </a:r>
          </a:p>
          <a:p>
            <a:r>
              <a:rPr lang="en-US" b="1" dirty="0" err="1" smtClean="0"/>
              <a:t>Tabloul</a:t>
            </a:r>
            <a:r>
              <a:rPr lang="ro-RO" b="1" dirty="0" smtClean="0"/>
              <a:t> de frecven</a:t>
            </a:r>
            <a:r>
              <a:rPr lang="en-US" b="1" dirty="0" err="1" smtClean="0"/>
              <a:t>ță</a:t>
            </a:r>
            <a:r>
              <a:rPr lang="ro-RO" dirty="0" smtClean="0"/>
              <a:t> reţine numărul de apariţii al fiecărei valori </a:t>
            </a:r>
            <a:r>
              <a:rPr lang="en-US" dirty="0" err="1" smtClean="0"/>
              <a:t>dintr</a:t>
            </a:r>
            <a:r>
              <a:rPr lang="en-US" dirty="0" smtClean="0"/>
              <a:t>-un </a:t>
            </a:r>
            <a:r>
              <a:rPr lang="en-US" dirty="0" err="1" smtClean="0"/>
              <a:t>șir</a:t>
            </a:r>
            <a:r>
              <a:rPr lang="en-US" dirty="0" smtClean="0"/>
              <a:t> de </a:t>
            </a:r>
            <a:r>
              <a:rPr lang="en-US" dirty="0" err="1" smtClean="0"/>
              <a:t>valori</a:t>
            </a:r>
            <a:r>
              <a:rPr lang="ro-RO" dirty="0" smtClean="0"/>
              <a:t>. Folosirea </a:t>
            </a:r>
            <a:r>
              <a:rPr lang="en-US" dirty="0" err="1" smtClean="0"/>
              <a:t>tabloului</a:t>
            </a:r>
            <a:r>
              <a:rPr lang="ro-RO" dirty="0" smtClean="0"/>
              <a:t> de frecvenţ</a:t>
            </a:r>
            <a:r>
              <a:rPr lang="en-US" dirty="0" smtClean="0"/>
              <a:t>ă</a:t>
            </a:r>
            <a:r>
              <a:rPr lang="ro-RO" dirty="0" smtClean="0"/>
              <a:t> permite scrierea unor algoritmi eficienţi în cazul în care datele de intrare au valori dintr-un domeniu cunoscut care poate fi prelucrat rapid.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804175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Tabloul</a:t>
            </a:r>
            <a:r>
              <a:rPr lang="en-US" dirty="0" smtClean="0"/>
              <a:t> de </a:t>
            </a:r>
            <a:r>
              <a:rPr lang="en-US" dirty="0" err="1" smtClean="0"/>
              <a:t>frecvență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o-RO" dirty="0" smtClean="0"/>
              <a:t>Fiecare </a:t>
            </a:r>
            <a:r>
              <a:rPr lang="ro-RO" dirty="0"/>
              <a:t>e</a:t>
            </a:r>
            <a:r>
              <a:rPr lang="en-US" dirty="0" err="1" smtClean="0"/>
              <a:t>lement</a:t>
            </a:r>
            <a:r>
              <a:rPr lang="ro-RO" dirty="0" smtClean="0"/>
              <a:t> din</a:t>
            </a:r>
            <a:r>
              <a:rPr lang="en-US" dirty="0" smtClean="0"/>
              <a:t> </a:t>
            </a:r>
            <a:r>
              <a:rPr lang="en-US" dirty="0" err="1" smtClean="0"/>
              <a:t>tablou</a:t>
            </a:r>
            <a:r>
              <a:rPr lang="ro-RO" dirty="0" smtClean="0"/>
              <a:t>l</a:t>
            </a:r>
            <a:r>
              <a:rPr lang="en-US" dirty="0" smtClean="0"/>
              <a:t> de </a:t>
            </a:r>
            <a:r>
              <a:rPr lang="en-US" dirty="0" err="1" smtClean="0"/>
              <a:t>frecvență</a:t>
            </a:r>
            <a:r>
              <a:rPr lang="en-US" dirty="0" smtClean="0"/>
              <a:t> </a:t>
            </a:r>
            <a:r>
              <a:rPr lang="ro-RO" dirty="0" smtClean="0"/>
              <a:t>numără apariția</a:t>
            </a:r>
            <a:r>
              <a:rPr lang="en-US" dirty="0" smtClean="0"/>
              <a:t> </a:t>
            </a:r>
            <a:r>
              <a:rPr lang="en-US" dirty="0" err="1" smtClean="0"/>
              <a:t>valorilor</a:t>
            </a:r>
            <a:r>
              <a:rPr lang="en-US" dirty="0" smtClean="0"/>
              <a:t> care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egale</a:t>
            </a:r>
            <a:r>
              <a:rPr lang="en-US" dirty="0" smtClean="0"/>
              <a:t> cu </a:t>
            </a:r>
            <a:r>
              <a:rPr lang="en-US" b="1" dirty="0" err="1" smtClean="0"/>
              <a:t>indicele</a:t>
            </a:r>
            <a:r>
              <a:rPr lang="en-US" dirty="0" smtClean="0"/>
              <a:t> </a:t>
            </a:r>
            <a:r>
              <a:rPr lang="en-US" dirty="0" err="1" smtClean="0"/>
              <a:t>elementului</a:t>
            </a:r>
            <a:r>
              <a:rPr lang="en-US" dirty="0" smtClean="0"/>
              <a:t>. </a:t>
            </a:r>
          </a:p>
          <a:p>
            <a:r>
              <a:rPr lang="en-US" b="1" dirty="0" err="1" smtClean="0"/>
              <a:t>Exemplu</a:t>
            </a:r>
            <a:r>
              <a:rPr lang="en-US" dirty="0" smtClean="0"/>
              <a:t>: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șirul</a:t>
            </a:r>
            <a:r>
              <a:rPr lang="en-US" dirty="0" smtClean="0"/>
              <a:t> de </a:t>
            </a:r>
            <a:r>
              <a:rPr lang="en-US" dirty="0" err="1" smtClean="0"/>
              <a:t>valori</a:t>
            </a:r>
            <a:r>
              <a:rPr lang="en-US" dirty="0" smtClean="0"/>
              <a:t> </a:t>
            </a:r>
            <a:r>
              <a:rPr lang="en-US" dirty="0" smtClean="0"/>
              <a:t>2, 4, 1, 0, 6, 8, 2, 4, 4, 3, 3, 9, 2, 2, 9, </a:t>
            </a:r>
            <a:r>
              <a:rPr lang="ro-RO" dirty="0" smtClean="0"/>
              <a:t>se va</a:t>
            </a:r>
            <a:r>
              <a:rPr lang="en-US" dirty="0" smtClean="0"/>
              <a:t> </a:t>
            </a:r>
            <a:r>
              <a:rPr lang="en-US" dirty="0" err="1" smtClean="0"/>
              <a:t>construi</a:t>
            </a:r>
            <a:r>
              <a:rPr lang="en-US" dirty="0" smtClean="0"/>
              <a:t> </a:t>
            </a:r>
            <a:r>
              <a:rPr lang="en-US" dirty="0" err="1" smtClean="0"/>
              <a:t>tabloul</a:t>
            </a:r>
            <a:r>
              <a:rPr lang="en-US" dirty="0" smtClean="0"/>
              <a:t> de </a:t>
            </a:r>
            <a:r>
              <a:rPr lang="en-US" dirty="0" err="1" smtClean="0"/>
              <a:t>frecvențe</a:t>
            </a:r>
            <a:r>
              <a:rPr lang="en-US" dirty="0" smtClean="0"/>
              <a:t>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Elementul</a:t>
            </a:r>
            <a:r>
              <a:rPr lang="en-US" dirty="0" smtClean="0"/>
              <a:t> cu </a:t>
            </a:r>
            <a:r>
              <a:rPr lang="en-US" dirty="0" err="1" smtClean="0"/>
              <a:t>indicele</a:t>
            </a:r>
            <a:r>
              <a:rPr lang="en-US" dirty="0" smtClean="0"/>
              <a:t> 0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reține</a:t>
            </a:r>
            <a:r>
              <a:rPr lang="en-US" dirty="0" smtClean="0"/>
              <a:t> </a:t>
            </a:r>
            <a:r>
              <a:rPr lang="en-US" dirty="0" err="1" smtClean="0"/>
              <a:t>numărul</a:t>
            </a:r>
            <a:r>
              <a:rPr lang="en-US" dirty="0" smtClean="0"/>
              <a:t> de </a:t>
            </a:r>
            <a:r>
              <a:rPr lang="en-US" dirty="0" err="1" smtClean="0"/>
              <a:t>apariții</a:t>
            </a:r>
            <a:r>
              <a:rPr lang="en-US" dirty="0" smtClean="0"/>
              <a:t> ale </a:t>
            </a:r>
            <a:r>
              <a:rPr lang="en-US" dirty="0" err="1" smtClean="0"/>
              <a:t>valorii</a:t>
            </a:r>
            <a:r>
              <a:rPr lang="en-US" dirty="0" smtClean="0"/>
              <a:t> </a:t>
            </a:r>
            <a:r>
              <a:rPr lang="ro-RO" dirty="0" smtClean="0"/>
              <a:t>0 care este 1</a:t>
            </a:r>
            <a:endParaRPr lang="en-US" dirty="0" smtClean="0"/>
          </a:p>
          <a:p>
            <a:r>
              <a:rPr lang="en-US" dirty="0" err="1"/>
              <a:t>Elementul</a:t>
            </a:r>
            <a:r>
              <a:rPr lang="en-US" dirty="0"/>
              <a:t> cu </a:t>
            </a:r>
            <a:r>
              <a:rPr lang="en-US" dirty="0" err="1"/>
              <a:t>indicele</a:t>
            </a:r>
            <a:r>
              <a:rPr lang="en-US" dirty="0"/>
              <a:t> </a:t>
            </a:r>
            <a:r>
              <a:rPr lang="en-US" dirty="0" smtClean="0"/>
              <a:t>1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reține</a:t>
            </a:r>
            <a:r>
              <a:rPr lang="en-US" dirty="0"/>
              <a:t> </a:t>
            </a:r>
            <a:r>
              <a:rPr lang="en-US" dirty="0" err="1"/>
              <a:t>numărul</a:t>
            </a:r>
            <a:r>
              <a:rPr lang="en-US" dirty="0"/>
              <a:t> de </a:t>
            </a:r>
            <a:r>
              <a:rPr lang="en-US" dirty="0" err="1"/>
              <a:t>apariții</a:t>
            </a:r>
            <a:r>
              <a:rPr lang="en-US" dirty="0"/>
              <a:t> ale </a:t>
            </a:r>
            <a:r>
              <a:rPr lang="en-US" dirty="0" err="1"/>
              <a:t>valorii</a:t>
            </a:r>
            <a:r>
              <a:rPr lang="en-US" dirty="0"/>
              <a:t> </a:t>
            </a:r>
            <a:r>
              <a:rPr lang="en-US" dirty="0" smtClean="0"/>
              <a:t>1</a:t>
            </a:r>
            <a:r>
              <a:rPr lang="ro-RO" dirty="0" smtClean="0"/>
              <a:t> care este 1</a:t>
            </a:r>
            <a:endParaRPr lang="en-US" dirty="0" smtClean="0"/>
          </a:p>
          <a:p>
            <a:r>
              <a:rPr lang="en-US" dirty="0" err="1"/>
              <a:t>Elementul</a:t>
            </a:r>
            <a:r>
              <a:rPr lang="en-US" dirty="0"/>
              <a:t> cu </a:t>
            </a:r>
            <a:r>
              <a:rPr lang="en-US" dirty="0" err="1"/>
              <a:t>indicele</a:t>
            </a:r>
            <a:r>
              <a:rPr lang="en-US" dirty="0"/>
              <a:t> </a:t>
            </a:r>
            <a:r>
              <a:rPr lang="en-US" dirty="0" smtClean="0"/>
              <a:t>2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reține</a:t>
            </a:r>
            <a:r>
              <a:rPr lang="en-US" dirty="0"/>
              <a:t> </a:t>
            </a:r>
            <a:r>
              <a:rPr lang="en-US" dirty="0" err="1"/>
              <a:t>numărul</a:t>
            </a:r>
            <a:r>
              <a:rPr lang="en-US" dirty="0"/>
              <a:t> de </a:t>
            </a:r>
            <a:r>
              <a:rPr lang="en-US" dirty="0" err="1"/>
              <a:t>apariții</a:t>
            </a:r>
            <a:r>
              <a:rPr lang="en-US" dirty="0"/>
              <a:t> ale </a:t>
            </a:r>
            <a:r>
              <a:rPr lang="en-US" dirty="0" err="1"/>
              <a:t>valorii</a:t>
            </a:r>
            <a:r>
              <a:rPr lang="en-US" dirty="0"/>
              <a:t> </a:t>
            </a:r>
            <a:r>
              <a:rPr lang="ro-RO" dirty="0" smtClean="0"/>
              <a:t>2 care este 4</a:t>
            </a:r>
            <a:endParaRPr lang="en-US" dirty="0" smtClean="0"/>
          </a:p>
          <a:p>
            <a:r>
              <a:rPr lang="en-US" dirty="0" err="1"/>
              <a:t>Elementul</a:t>
            </a:r>
            <a:r>
              <a:rPr lang="en-US" dirty="0"/>
              <a:t> cu </a:t>
            </a:r>
            <a:r>
              <a:rPr lang="en-US" dirty="0" err="1"/>
              <a:t>indicele</a:t>
            </a:r>
            <a:r>
              <a:rPr lang="en-US" dirty="0"/>
              <a:t> </a:t>
            </a:r>
            <a:r>
              <a:rPr lang="en-US" dirty="0" smtClean="0"/>
              <a:t>3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reține</a:t>
            </a:r>
            <a:r>
              <a:rPr lang="en-US" dirty="0"/>
              <a:t> </a:t>
            </a:r>
            <a:r>
              <a:rPr lang="en-US" dirty="0" err="1"/>
              <a:t>numărul</a:t>
            </a:r>
            <a:r>
              <a:rPr lang="en-US" dirty="0"/>
              <a:t> de </a:t>
            </a:r>
            <a:r>
              <a:rPr lang="en-US" dirty="0" err="1"/>
              <a:t>apariții</a:t>
            </a:r>
            <a:r>
              <a:rPr lang="en-US" dirty="0"/>
              <a:t> ale </a:t>
            </a:r>
            <a:r>
              <a:rPr lang="en-US" dirty="0" err="1"/>
              <a:t>valorii</a:t>
            </a:r>
            <a:r>
              <a:rPr lang="en-US" dirty="0"/>
              <a:t> </a:t>
            </a:r>
            <a:r>
              <a:rPr lang="en-US" dirty="0" smtClean="0"/>
              <a:t>3</a:t>
            </a:r>
            <a:r>
              <a:rPr lang="ro-RO" dirty="0" smtClean="0"/>
              <a:t> care este 2</a:t>
            </a:r>
            <a:endParaRPr lang="en-US" dirty="0" smtClean="0"/>
          </a:p>
          <a:p>
            <a:r>
              <a:rPr lang="en-US" dirty="0" smtClean="0"/>
              <a:t>…………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o-RO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9581" y="2861623"/>
            <a:ext cx="6746576" cy="77906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6132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Tabloul</a:t>
            </a:r>
            <a:r>
              <a:rPr lang="en-US" dirty="0" smtClean="0"/>
              <a:t> de </a:t>
            </a:r>
            <a:r>
              <a:rPr lang="en-US" dirty="0" err="1" smtClean="0"/>
              <a:t>frecvență</a:t>
            </a:r>
            <a:r>
              <a:rPr lang="en-US" dirty="0" smtClean="0"/>
              <a:t> – </a:t>
            </a:r>
            <a:r>
              <a:rPr lang="en-US" dirty="0" err="1" smtClean="0"/>
              <a:t>observații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75" y="1526875"/>
            <a:ext cx="9601196" cy="4288608"/>
          </a:xfrm>
        </p:spPr>
        <p:txBody>
          <a:bodyPr>
            <a:normAutofit fontScale="92500"/>
          </a:bodyPr>
          <a:lstStyle/>
          <a:p>
            <a:r>
              <a:rPr lang="en-US" dirty="0" err="1" smtClean="0"/>
              <a:t>Exemplu</a:t>
            </a:r>
            <a:r>
              <a:rPr lang="en-US" dirty="0" smtClean="0"/>
              <a:t>: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șirul</a:t>
            </a:r>
            <a:r>
              <a:rPr lang="en-US" dirty="0" smtClean="0"/>
              <a:t> de </a:t>
            </a:r>
            <a:r>
              <a:rPr lang="en-US" dirty="0" err="1" smtClean="0"/>
              <a:t>valori</a:t>
            </a:r>
            <a:r>
              <a:rPr lang="en-US" dirty="0" smtClean="0"/>
              <a:t> 2 4 1 0 6 8 2 4 4 3 3 9 2 2 9 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Valoarea</a:t>
            </a:r>
            <a:r>
              <a:rPr lang="en-US" dirty="0" smtClean="0"/>
              <a:t> </a:t>
            </a:r>
            <a:r>
              <a:rPr lang="en-US" dirty="0" err="1" smtClean="0"/>
              <a:t>maximă</a:t>
            </a:r>
            <a:r>
              <a:rPr lang="en-US" dirty="0" smtClean="0"/>
              <a:t> din </a:t>
            </a:r>
            <a:r>
              <a:rPr lang="en-US" dirty="0" err="1" smtClean="0"/>
              <a:t>șir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9</a:t>
            </a:r>
            <a:r>
              <a:rPr lang="ro-RO" dirty="0" smtClean="0"/>
              <a:t>;</a:t>
            </a:r>
            <a:r>
              <a:rPr lang="en-US" dirty="0" smtClean="0"/>
              <a:t> </a:t>
            </a:r>
          </a:p>
          <a:p>
            <a:r>
              <a:rPr lang="en-US" dirty="0" smtClean="0"/>
              <a:t>Prima </a:t>
            </a:r>
            <a:r>
              <a:rPr lang="en-US" dirty="0" err="1" smtClean="0"/>
              <a:t>valoare</a:t>
            </a:r>
            <a:r>
              <a:rPr lang="en-US" dirty="0" smtClean="0"/>
              <a:t> din </a:t>
            </a:r>
            <a:r>
              <a:rPr lang="en-US" dirty="0" err="1" smtClean="0"/>
              <a:t>tablou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v[0] </a:t>
            </a:r>
            <a:r>
              <a:rPr lang="ro-RO" dirty="0" smtClean="0"/>
              <a:t>și reprezintă numărul de apariții ale valorii 0</a:t>
            </a:r>
            <a:r>
              <a:rPr lang="en-US" dirty="0" smtClean="0"/>
              <a:t> din </a:t>
            </a:r>
            <a:r>
              <a:rPr lang="en-US" dirty="0" err="1" smtClean="0"/>
              <a:t>șir</a:t>
            </a:r>
            <a:r>
              <a:rPr lang="ro-RO" dirty="0" smtClean="0"/>
              <a:t>, </a:t>
            </a:r>
            <a:r>
              <a:rPr lang="en-US" dirty="0" smtClean="0"/>
              <a:t>ultima </a:t>
            </a:r>
            <a:r>
              <a:rPr lang="en-US" dirty="0" err="1" smtClean="0"/>
              <a:t>valoare</a:t>
            </a:r>
            <a:r>
              <a:rPr lang="en-US" dirty="0" smtClean="0"/>
              <a:t> </a:t>
            </a:r>
            <a:r>
              <a:rPr lang="ro-RO" dirty="0" smtClean="0"/>
              <a:t>este </a:t>
            </a:r>
            <a:r>
              <a:rPr lang="en-US" dirty="0" smtClean="0"/>
              <a:t>v[</a:t>
            </a:r>
            <a:r>
              <a:rPr lang="ro-RO" dirty="0" smtClean="0"/>
              <a:t>9</a:t>
            </a:r>
            <a:r>
              <a:rPr lang="en-US" dirty="0" smtClean="0"/>
              <a:t>]</a:t>
            </a:r>
            <a:r>
              <a:rPr lang="ro-RO" dirty="0" smtClean="0"/>
              <a:t> și reprezintă numărul de apariții ale valorii 9</a:t>
            </a:r>
            <a:r>
              <a:rPr lang="en-US" dirty="0" smtClean="0"/>
              <a:t> din </a:t>
            </a:r>
            <a:r>
              <a:rPr lang="en-US" dirty="0" err="1" smtClean="0"/>
              <a:t>șir</a:t>
            </a:r>
            <a:r>
              <a:rPr lang="ro-RO" dirty="0" smtClean="0"/>
              <a:t>;</a:t>
            </a:r>
            <a:endParaRPr lang="en-US" dirty="0" smtClean="0"/>
          </a:p>
          <a:p>
            <a:r>
              <a:rPr lang="en-US" dirty="0" err="1" smtClean="0"/>
              <a:t>Șirul</a:t>
            </a:r>
            <a:r>
              <a:rPr lang="en-US" dirty="0" smtClean="0"/>
              <a:t> </a:t>
            </a:r>
            <a:r>
              <a:rPr lang="en-US" dirty="0" err="1" smtClean="0"/>
              <a:t>conține</a:t>
            </a:r>
            <a:r>
              <a:rPr lang="en-US" dirty="0" smtClean="0"/>
              <a:t> </a:t>
            </a:r>
            <a:r>
              <a:rPr lang="en-US" dirty="0" err="1" smtClean="0"/>
              <a:t>valori</a:t>
            </a:r>
            <a:r>
              <a:rPr lang="en-US" dirty="0" smtClean="0"/>
              <a:t> </a:t>
            </a:r>
            <a:r>
              <a:rPr lang="en-US" dirty="0" err="1" smtClean="0"/>
              <a:t>limitate</a:t>
            </a:r>
            <a:r>
              <a:rPr lang="en-US" dirty="0" smtClean="0"/>
              <a:t>, </a:t>
            </a:r>
            <a:r>
              <a:rPr lang="en-US" dirty="0" err="1" smtClean="0"/>
              <a:t>pozitive</a:t>
            </a:r>
            <a:r>
              <a:rPr lang="en-US" dirty="0" smtClean="0"/>
              <a:t>, </a:t>
            </a:r>
            <a:r>
              <a:rPr lang="en-US" dirty="0" err="1" smtClean="0"/>
              <a:t>cuprinse</a:t>
            </a:r>
            <a:r>
              <a:rPr lang="en-US" dirty="0" smtClean="0"/>
              <a:t> </a:t>
            </a:r>
            <a:r>
              <a:rPr lang="en-US" dirty="0" err="1" smtClean="0"/>
              <a:t>între</a:t>
            </a:r>
            <a:r>
              <a:rPr lang="en-US" dirty="0" smtClean="0"/>
              <a:t> 0 </a:t>
            </a:r>
            <a:r>
              <a:rPr lang="en-US" dirty="0" err="1" smtClean="0"/>
              <a:t>și</a:t>
            </a:r>
            <a:r>
              <a:rPr lang="en-US" dirty="0" smtClean="0"/>
              <a:t> 9</a:t>
            </a:r>
            <a:r>
              <a:rPr lang="ro-RO" dirty="0" smtClean="0"/>
              <a:t>;</a:t>
            </a:r>
            <a:endParaRPr lang="en-US" dirty="0" smtClean="0"/>
          </a:p>
          <a:p>
            <a:r>
              <a:rPr lang="en-US" dirty="0" err="1" smtClean="0"/>
              <a:t>Dimensiunea</a:t>
            </a:r>
            <a:r>
              <a:rPr lang="en-US" dirty="0" smtClean="0"/>
              <a:t> </a:t>
            </a:r>
            <a:r>
              <a:rPr lang="en-US" dirty="0" err="1" smtClean="0"/>
              <a:t>tabloului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10</a:t>
            </a:r>
            <a:r>
              <a:rPr lang="ro-RO" dirty="0" smtClean="0"/>
              <a:t> și este dată de valoarea </a:t>
            </a:r>
            <a:r>
              <a:rPr lang="ro-RO" b="1" dirty="0" smtClean="0"/>
              <a:t>maximă+1</a:t>
            </a:r>
            <a:r>
              <a:rPr lang="ro-RO" dirty="0" smtClean="0"/>
              <a:t>;</a:t>
            </a:r>
            <a:endParaRPr lang="en-US" dirty="0"/>
          </a:p>
          <a:p>
            <a:endParaRPr lang="en-US" dirty="0"/>
          </a:p>
          <a:p>
            <a:endParaRPr lang="ro-RO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632" y="2073705"/>
            <a:ext cx="6390288" cy="11477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82215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Crearea tabloului de frecvenț</a:t>
            </a:r>
            <a:r>
              <a:rPr lang="en-US" dirty="0" smtClean="0"/>
              <a:t>ă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o-RO" dirty="0" smtClean="0"/>
              <a:t>Pentru a crea tabloul de frecvenț</a:t>
            </a:r>
            <a:r>
              <a:rPr lang="en-US" dirty="0"/>
              <a:t>ă</a:t>
            </a:r>
            <a:r>
              <a:rPr lang="ro-RO" dirty="0" smtClean="0"/>
              <a:t> trebui</a:t>
            </a:r>
            <a:r>
              <a:rPr lang="en-US" dirty="0" smtClean="0"/>
              <a:t>e</a:t>
            </a:r>
            <a:r>
              <a:rPr lang="ro-RO" dirty="0" smtClean="0"/>
              <a:t> stabilită dimensiunea acestuia în funcție de valorile din șir, astfel:</a:t>
            </a:r>
          </a:p>
          <a:p>
            <a:pPr lvl="1">
              <a:buFontTx/>
              <a:buChar char="-"/>
            </a:pPr>
            <a:r>
              <a:rPr lang="ro-RO" dirty="0" smtClean="0"/>
              <a:t>Dacă în șir sunt valori care au doar </a:t>
            </a:r>
            <a:r>
              <a:rPr lang="ro-RO" b="1" dirty="0" smtClean="0"/>
              <a:t>o cifră </a:t>
            </a:r>
            <a:r>
              <a:rPr lang="ro-RO" dirty="0" smtClean="0"/>
              <a:t>atunci dimensiunea maximă tabloului este </a:t>
            </a:r>
            <a:r>
              <a:rPr lang="ro-RO" b="1" dirty="0" smtClean="0"/>
              <a:t>10</a:t>
            </a:r>
            <a:r>
              <a:rPr lang="ro-RO" dirty="0" smtClean="0"/>
              <a:t>;</a:t>
            </a:r>
          </a:p>
          <a:p>
            <a:pPr lvl="1">
              <a:buFontTx/>
              <a:buChar char="-"/>
            </a:pPr>
            <a:r>
              <a:rPr lang="ro-RO" dirty="0" smtClean="0"/>
              <a:t>Dacă în șir sunt valori care au maxim </a:t>
            </a:r>
            <a:r>
              <a:rPr lang="ro-RO" b="1" dirty="0" smtClean="0"/>
              <a:t>2 cifre </a:t>
            </a:r>
            <a:r>
              <a:rPr lang="ro-RO" dirty="0" smtClean="0"/>
              <a:t>atunci dimensiunea maximă a tabloului este </a:t>
            </a:r>
            <a:r>
              <a:rPr lang="ro-RO" b="1" dirty="0" smtClean="0"/>
              <a:t>100</a:t>
            </a:r>
            <a:r>
              <a:rPr lang="ro-RO" dirty="0" smtClean="0"/>
              <a:t>;</a:t>
            </a:r>
          </a:p>
          <a:p>
            <a:pPr lvl="1">
              <a:buFontTx/>
              <a:buChar char="-"/>
            </a:pPr>
            <a:r>
              <a:rPr lang="ro-RO" dirty="0" smtClean="0"/>
              <a:t>Dacă în șir sunt valori care au maxim </a:t>
            </a:r>
            <a:r>
              <a:rPr lang="ro-RO" b="1" dirty="0" smtClean="0"/>
              <a:t>3 cifre </a:t>
            </a:r>
            <a:r>
              <a:rPr lang="ro-RO" dirty="0" smtClean="0"/>
              <a:t>atunci dimensiunea maximă a tabloului este </a:t>
            </a:r>
            <a:r>
              <a:rPr lang="ro-RO" b="1" dirty="0" smtClean="0"/>
              <a:t>1000</a:t>
            </a:r>
            <a:r>
              <a:rPr lang="ro-RO" dirty="0" smtClean="0"/>
              <a:t>;</a:t>
            </a:r>
          </a:p>
          <a:p>
            <a:pPr lvl="1">
              <a:buFontTx/>
              <a:buChar char="-"/>
            </a:pPr>
            <a:r>
              <a:rPr lang="ro-RO" dirty="0" smtClean="0"/>
              <a:t>.......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dirty="0" smtClean="0"/>
              <a:t>Datorită limit</a:t>
            </a:r>
            <a:r>
              <a:rPr lang="en-US" dirty="0" err="1" smtClean="0"/>
              <a:t>ărilor</a:t>
            </a:r>
            <a:r>
              <a:rPr lang="en-US" dirty="0" smtClean="0"/>
              <a:t> </a:t>
            </a:r>
            <a:r>
              <a:rPr lang="en-US" dirty="0" err="1" smtClean="0"/>
              <a:t>resurselor</a:t>
            </a:r>
            <a:r>
              <a:rPr lang="en-US" dirty="0" smtClean="0"/>
              <a:t> de </a:t>
            </a:r>
            <a:r>
              <a:rPr lang="en-US" dirty="0" err="1" smtClean="0"/>
              <a:t>memorie</a:t>
            </a:r>
            <a:r>
              <a:rPr lang="ro-RO" dirty="0" smtClean="0"/>
              <a:t>, dimensiunea maximă a </a:t>
            </a:r>
            <a:r>
              <a:rPr lang="en-US" dirty="0" err="1" smtClean="0"/>
              <a:t>unui</a:t>
            </a:r>
            <a:r>
              <a:rPr lang="en-US" dirty="0" smtClean="0"/>
              <a:t> </a:t>
            </a:r>
            <a:r>
              <a:rPr lang="ro-RO" dirty="0" smtClean="0"/>
              <a:t>tablou</a:t>
            </a:r>
            <a:r>
              <a:rPr lang="en-US" dirty="0" smtClean="0"/>
              <a:t> de </a:t>
            </a:r>
            <a:r>
              <a:rPr lang="en-US" dirty="0" err="1" smtClean="0"/>
              <a:t>frecvență</a:t>
            </a:r>
            <a:r>
              <a:rPr lang="en-US" dirty="0" smtClean="0"/>
              <a:t> </a:t>
            </a:r>
            <a:r>
              <a:rPr lang="en-US" dirty="0" err="1" smtClean="0"/>
              <a:t>poate</a:t>
            </a:r>
            <a:r>
              <a:rPr lang="en-US" dirty="0" smtClean="0"/>
              <a:t> fi</a:t>
            </a:r>
            <a:r>
              <a:rPr lang="ro-RO" dirty="0" smtClean="0"/>
              <a:t> de </a:t>
            </a:r>
            <a:r>
              <a:rPr lang="ro-RO" b="1" dirty="0" smtClean="0"/>
              <a:t>1000000</a:t>
            </a:r>
            <a:r>
              <a:rPr lang="ro-RO" dirty="0" smtClean="0"/>
              <a:t>, adică pentru valori care au maxim </a:t>
            </a:r>
            <a:r>
              <a:rPr lang="ro-RO" b="1" dirty="0" smtClean="0"/>
              <a:t>6</a:t>
            </a:r>
            <a:r>
              <a:rPr lang="ro-RO" dirty="0" smtClean="0"/>
              <a:t> cifre. În această situație, folosirea tabloului de frecvenț</a:t>
            </a:r>
            <a:r>
              <a:rPr lang="en-US" dirty="0" smtClean="0"/>
              <a:t>ă</a:t>
            </a:r>
            <a:r>
              <a:rPr lang="ro-RO" dirty="0" smtClean="0"/>
              <a:t> poate deveni ineficientă datorită parcurgerii tuturor valorilor de la 0 la 1000000.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97006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Crearea tabloului de </a:t>
            </a:r>
            <a:r>
              <a:rPr lang="ro-RO" dirty="0" smtClean="0"/>
              <a:t>frecvenț</a:t>
            </a:r>
            <a:r>
              <a:rPr lang="en-US" dirty="0" smtClean="0"/>
              <a:t>ă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Ințial toate valorile tabloului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egale</a:t>
            </a:r>
            <a:r>
              <a:rPr lang="en-US" dirty="0" smtClean="0"/>
              <a:t> cu </a:t>
            </a:r>
            <a:r>
              <a:rPr lang="ro-RO" dirty="0" smtClean="0"/>
              <a:t>0.</a:t>
            </a:r>
          </a:p>
          <a:p>
            <a:r>
              <a:rPr lang="en-US" dirty="0" err="1" smtClean="0"/>
              <a:t>Frecvența</a:t>
            </a:r>
            <a:r>
              <a:rPr lang="en-US" dirty="0" smtClean="0"/>
              <a:t> </a:t>
            </a:r>
            <a:r>
              <a:rPr lang="en-US" dirty="0" err="1" smtClean="0"/>
              <a:t>valorilor</a:t>
            </a:r>
            <a:r>
              <a:rPr lang="en-US" dirty="0" smtClean="0"/>
              <a:t> se </a:t>
            </a:r>
            <a:r>
              <a:rPr lang="en-US" dirty="0" err="1" smtClean="0"/>
              <a:t>obține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 smtClean="0"/>
              <a:t>contorizarea</a:t>
            </a:r>
            <a:r>
              <a:rPr lang="en-US" dirty="0" smtClean="0"/>
              <a:t> </a:t>
            </a:r>
            <a:r>
              <a:rPr lang="en-US" dirty="0" err="1" smtClean="0"/>
              <a:t>acestora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momentul</a:t>
            </a:r>
            <a:r>
              <a:rPr lang="en-US" dirty="0" smtClean="0"/>
              <a:t> </a:t>
            </a:r>
            <a:r>
              <a:rPr lang="en-US" dirty="0" err="1" smtClean="0"/>
              <a:t>parcurgerii</a:t>
            </a:r>
            <a:r>
              <a:rPr lang="en-US" dirty="0" smtClean="0"/>
              <a:t> </a:t>
            </a:r>
            <a:r>
              <a:rPr lang="en-US" dirty="0" err="1" smtClean="0"/>
              <a:t>șirului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ro-RO" dirty="0" smtClean="0"/>
              <a:t>un </a:t>
            </a:r>
            <a:r>
              <a:rPr lang="en-US" dirty="0" err="1" smtClean="0"/>
              <a:t>șir</a:t>
            </a:r>
            <a:r>
              <a:rPr lang="en-US" dirty="0" smtClean="0"/>
              <a:t> de </a:t>
            </a:r>
            <a:r>
              <a:rPr lang="en-US" dirty="0" err="1" smtClean="0"/>
              <a:t>valori</a:t>
            </a:r>
            <a:r>
              <a:rPr lang="ro-RO" dirty="0" smtClean="0"/>
              <a:t>,</a:t>
            </a:r>
            <a:r>
              <a:rPr lang="en-US" dirty="0" smtClean="0"/>
              <a:t> la </a:t>
            </a:r>
            <a:r>
              <a:rPr lang="en-US" dirty="0" err="1" smtClean="0"/>
              <a:t>citirea</a:t>
            </a:r>
            <a:r>
              <a:rPr lang="en-US" dirty="0" smtClean="0"/>
              <a:t> </a:t>
            </a:r>
            <a:r>
              <a:rPr lang="en-US" dirty="0" err="1" smtClean="0"/>
              <a:t>fiecărei</a:t>
            </a:r>
            <a:r>
              <a:rPr lang="en-US" dirty="0" smtClean="0"/>
              <a:t> </a:t>
            </a:r>
            <a:r>
              <a:rPr lang="en-US" dirty="0" err="1" smtClean="0"/>
              <a:t>valori</a:t>
            </a:r>
            <a:r>
              <a:rPr lang="en-US" dirty="0" smtClean="0"/>
              <a:t> din </a:t>
            </a:r>
            <a:r>
              <a:rPr lang="en-US" dirty="0" err="1" smtClean="0"/>
              <a:t>șir</a:t>
            </a:r>
            <a:r>
              <a:rPr lang="en-US" dirty="0" smtClean="0"/>
              <a:t>, </a:t>
            </a:r>
            <a:r>
              <a:rPr lang="ro-RO" dirty="0" smtClean="0"/>
              <a:t>î</a:t>
            </a:r>
            <a:r>
              <a:rPr lang="en-US" dirty="0" smtClean="0"/>
              <a:t>n </a:t>
            </a:r>
            <a:r>
              <a:rPr lang="en-US" dirty="0" err="1" smtClean="0"/>
              <a:t>variabila</a:t>
            </a:r>
            <a:r>
              <a:rPr lang="en-US" dirty="0" smtClean="0"/>
              <a:t> </a:t>
            </a:r>
            <a:r>
              <a:rPr lang="en-US" b="1" dirty="0" smtClean="0"/>
              <a:t>x</a:t>
            </a:r>
            <a:r>
              <a:rPr lang="en-US" dirty="0" smtClean="0"/>
              <a:t> se </a:t>
            </a:r>
            <a:r>
              <a:rPr lang="en-US" dirty="0" err="1" smtClean="0"/>
              <a:t>vor</a:t>
            </a:r>
            <a:r>
              <a:rPr lang="en-US" dirty="0" smtClean="0"/>
              <a:t> </a:t>
            </a:r>
            <a:r>
              <a:rPr lang="en-US" dirty="0" err="1" smtClean="0"/>
              <a:t>efectua</a:t>
            </a:r>
            <a:r>
              <a:rPr lang="en-US" dirty="0" smtClean="0"/>
              <a:t> </a:t>
            </a:r>
            <a:r>
              <a:rPr lang="en-US" dirty="0" err="1" smtClean="0"/>
              <a:t>operațiile</a:t>
            </a:r>
            <a:r>
              <a:rPr lang="en-US" dirty="0" smtClean="0"/>
              <a:t>:</a:t>
            </a:r>
          </a:p>
          <a:p>
            <a:endParaRPr lang="ro-RO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314" y="3899536"/>
            <a:ext cx="2286000" cy="10096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3309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Crearea tabloului de </a:t>
            </a:r>
            <a:r>
              <a:rPr lang="ro-RO" dirty="0" smtClean="0"/>
              <a:t>frecvenț</a:t>
            </a:r>
            <a:r>
              <a:rPr lang="en-US" dirty="0" smtClean="0"/>
              <a:t>ă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o-RO" b="1" dirty="0" smtClean="0"/>
              <a:t>Exemplu</a:t>
            </a:r>
            <a:r>
              <a:rPr lang="ro-RO" dirty="0" smtClean="0"/>
              <a:t>: </a:t>
            </a:r>
          </a:p>
          <a:p>
            <a:r>
              <a:rPr lang="ro-RO" dirty="0"/>
              <a:t>F</a:t>
            </a:r>
            <a:r>
              <a:rPr lang="ro-RO" dirty="0" smtClean="0"/>
              <a:t>ie șirul </a:t>
            </a:r>
            <a:r>
              <a:rPr lang="en-US" dirty="0"/>
              <a:t>2 4 1 0 6 8 2 4 4 3 3 9 2 2 9 </a:t>
            </a:r>
            <a:endParaRPr lang="ro-RO" dirty="0" smtClean="0"/>
          </a:p>
          <a:p>
            <a:r>
              <a:rPr lang="ro-RO" dirty="0" smtClean="0"/>
              <a:t>Ințial elementele tabloului de frecvență au valoarea 0</a:t>
            </a:r>
          </a:p>
          <a:p>
            <a:endParaRPr lang="ro-RO" dirty="0" smtClean="0"/>
          </a:p>
          <a:p>
            <a:endParaRPr lang="ro-RO" dirty="0" smtClean="0"/>
          </a:p>
          <a:p>
            <a:r>
              <a:rPr lang="ro-RO" dirty="0" smtClean="0"/>
              <a:t>Pentru fiecare valoare citită din șir se aplică operațiile. 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045" y="3148362"/>
            <a:ext cx="6141176" cy="85947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909" y="4007833"/>
            <a:ext cx="2286000" cy="10096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09103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Crearea tabloului de frecvenț</a:t>
            </a:r>
            <a:r>
              <a:rPr lang="en-US" dirty="0"/>
              <a:t>ă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X=2</a:t>
            </a:r>
          </a:p>
          <a:p>
            <a:endParaRPr lang="ro-RO" dirty="0"/>
          </a:p>
          <a:p>
            <a:r>
              <a:rPr lang="ro-RO" dirty="0" smtClean="0"/>
              <a:t>X=4</a:t>
            </a:r>
          </a:p>
          <a:p>
            <a:pPr marL="0" indent="0">
              <a:buNone/>
            </a:pPr>
            <a:endParaRPr lang="ro-RO" dirty="0" smtClean="0"/>
          </a:p>
          <a:p>
            <a:r>
              <a:rPr lang="ro-RO" dirty="0" smtClean="0"/>
              <a:t>X=1</a:t>
            </a:r>
          </a:p>
          <a:p>
            <a:endParaRPr lang="ro-RO" dirty="0"/>
          </a:p>
          <a:p>
            <a:r>
              <a:rPr lang="ro-RO" dirty="0" smtClean="0"/>
              <a:t>X=0    </a:t>
            </a:r>
            <a:endParaRPr lang="ro-RO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702" y="1471341"/>
            <a:ext cx="6077085" cy="8117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7702" y="2443180"/>
            <a:ext cx="6077085" cy="6864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702" y="3259831"/>
            <a:ext cx="6077085" cy="7926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7702" y="4421256"/>
            <a:ext cx="6077085" cy="82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81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Crearea tabloului de frecvențe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X=6 </a:t>
            </a:r>
          </a:p>
          <a:p>
            <a:endParaRPr lang="ro-RO" dirty="0"/>
          </a:p>
          <a:p>
            <a:r>
              <a:rPr lang="ro-RO" dirty="0" smtClean="0"/>
              <a:t>X= 8</a:t>
            </a:r>
          </a:p>
          <a:p>
            <a:endParaRPr lang="ro-RO" dirty="0"/>
          </a:p>
          <a:p>
            <a:r>
              <a:rPr lang="ro-RO" dirty="0" smtClean="0"/>
              <a:t>X=2</a:t>
            </a:r>
          </a:p>
          <a:p>
            <a:endParaRPr lang="ro-RO" dirty="0"/>
          </a:p>
          <a:p>
            <a:r>
              <a:rPr lang="ro-RO" dirty="0" smtClean="0"/>
              <a:t>X=4  </a:t>
            </a:r>
            <a:endParaRPr lang="ro-RO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439" y="1587260"/>
            <a:ext cx="6295481" cy="75090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0439" y="2580004"/>
            <a:ext cx="6295481" cy="7888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439" y="3660318"/>
            <a:ext cx="6295481" cy="7605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70439" y="4728754"/>
            <a:ext cx="666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…..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58805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Aplicații ale tabloului de frecvenț</a:t>
            </a:r>
            <a:r>
              <a:rPr lang="en-US" dirty="0" smtClean="0"/>
              <a:t>ă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 smtClean="0"/>
              <a:t>Ordonarea valorilor cu ajutorul tabloului de frecvenț</a:t>
            </a:r>
            <a:r>
              <a:rPr lang="en-US" dirty="0" smtClean="0"/>
              <a:t>ă </a:t>
            </a:r>
          </a:p>
          <a:p>
            <a:r>
              <a:rPr lang="en-US" dirty="0" smtClean="0"/>
              <a:t>(</a:t>
            </a:r>
            <a:r>
              <a:rPr lang="en-US" smtClean="0"/>
              <a:t>sortare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timp</a:t>
            </a:r>
            <a:r>
              <a:rPr lang="en-US" dirty="0" smtClean="0"/>
              <a:t> </a:t>
            </a:r>
            <a:r>
              <a:rPr lang="en-US" dirty="0" err="1" smtClean="0"/>
              <a:t>liniar</a:t>
            </a:r>
            <a:r>
              <a:rPr lang="en-US" dirty="0" smtClean="0"/>
              <a:t>)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414308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Exemplu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o-RO" dirty="0"/>
              <a:t>Pe prima linie a fişierului text </a:t>
            </a:r>
            <a:r>
              <a:rPr lang="ro-RO" b="1" dirty="0"/>
              <a:t>DATE.TXT</a:t>
            </a:r>
            <a:r>
              <a:rPr lang="ro-RO" dirty="0"/>
              <a:t> se află un şir de cel mult </a:t>
            </a:r>
            <a:r>
              <a:rPr lang="ro-RO" b="1" dirty="0"/>
              <a:t>10000</a:t>
            </a:r>
            <a:r>
              <a:rPr lang="ro-RO" dirty="0"/>
              <a:t> de numere naturale, despărţite prin câte un spaţiu, fiecare având </a:t>
            </a:r>
            <a:r>
              <a:rPr lang="ro-RO" b="1" dirty="0"/>
              <a:t>exact o cifră</a:t>
            </a:r>
            <a:r>
              <a:rPr lang="ro-RO" dirty="0"/>
              <a:t>. </a:t>
            </a:r>
            <a:endParaRPr lang="en-US" dirty="0" smtClean="0"/>
          </a:p>
          <a:p>
            <a:pPr marL="0" indent="0">
              <a:buNone/>
            </a:pPr>
            <a:r>
              <a:rPr lang="ro-RO" dirty="0" smtClean="0"/>
              <a:t>a</a:t>
            </a:r>
            <a:r>
              <a:rPr lang="ro-RO" dirty="0"/>
              <a:t>) Scrieţi un program </a:t>
            </a:r>
            <a:r>
              <a:rPr lang="ro-RO" dirty="0" smtClean="0"/>
              <a:t>care </a:t>
            </a:r>
            <a:r>
              <a:rPr lang="ro-RO" dirty="0"/>
              <a:t>citeşte numerele din fişier şi le scrie în fişierul text </a:t>
            </a:r>
            <a:r>
              <a:rPr lang="ro-RO" b="1" dirty="0"/>
              <a:t>OUT.TXT</a:t>
            </a:r>
            <a:r>
              <a:rPr lang="ro-RO" dirty="0"/>
              <a:t>, pe o singură linie, în ordine crescătoare a valorilor lor, separate prin câte un spaţiu. </a:t>
            </a:r>
            <a:endParaRPr lang="en-US" dirty="0" smtClean="0"/>
          </a:p>
          <a:p>
            <a:pPr marL="0" indent="0">
              <a:buNone/>
            </a:pPr>
            <a:r>
              <a:rPr lang="ro-RO" dirty="0" smtClean="0"/>
              <a:t>Se </a:t>
            </a:r>
            <a:r>
              <a:rPr lang="ro-RO" dirty="0"/>
              <a:t>va utiliza </a:t>
            </a:r>
            <a:r>
              <a:rPr lang="ro-RO" b="1" u="sng" dirty="0"/>
              <a:t>un algoritm eficient </a:t>
            </a:r>
            <a:r>
              <a:rPr lang="ro-RO" dirty="0"/>
              <a:t>din punct de vedere al timpului de executare. </a:t>
            </a:r>
            <a:endParaRPr lang="en-US" dirty="0" smtClean="0"/>
          </a:p>
          <a:p>
            <a:pPr marL="0" indent="0">
              <a:buNone/>
            </a:pPr>
            <a:r>
              <a:rPr lang="ro-RO" b="1" dirty="0" smtClean="0"/>
              <a:t>Exemplu</a:t>
            </a:r>
            <a:r>
              <a:rPr lang="ro-RO" dirty="0"/>
              <a:t>: dacă din fişierul </a:t>
            </a:r>
            <a:r>
              <a:rPr lang="ro-RO" b="1" dirty="0"/>
              <a:t>DATE.TXT</a:t>
            </a:r>
            <a:r>
              <a:rPr lang="ro-RO" dirty="0"/>
              <a:t> se citeşte şirul: </a:t>
            </a:r>
            <a:r>
              <a:rPr lang="ro-RO" b="1" dirty="0"/>
              <a:t>2 4 3 2 7 4 3 7 2 7 7 2 1 9 1 1 2 3 </a:t>
            </a:r>
            <a:r>
              <a:rPr lang="en-US" b="1" dirty="0"/>
              <a:t> </a:t>
            </a:r>
            <a:r>
              <a:rPr lang="ro-RO" dirty="0" smtClean="0"/>
              <a:t>fişierul </a:t>
            </a:r>
            <a:r>
              <a:rPr lang="ro-RO" b="1" dirty="0"/>
              <a:t>OUT.TXT</a:t>
            </a:r>
            <a:r>
              <a:rPr lang="ro-RO" dirty="0"/>
              <a:t> va conţine </a:t>
            </a:r>
            <a:r>
              <a:rPr lang="ro-RO" b="1" dirty="0"/>
              <a:t>1 1 1 2 2 2 2 2 3 3 3 4 4 7 7 7 7 9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err="1" smtClean="0"/>
              <a:t>Rezolvare</a:t>
            </a:r>
            <a:r>
              <a:rPr lang="en-US" dirty="0" smtClean="0"/>
              <a:t>: </a:t>
            </a:r>
            <a:r>
              <a:rPr lang="en-US" dirty="0" err="1"/>
              <a:t>p</a:t>
            </a:r>
            <a:r>
              <a:rPr lang="en-US" dirty="0" err="1" smtClean="0"/>
              <a:t>entru</a:t>
            </a:r>
            <a:r>
              <a:rPr lang="en-US" dirty="0" smtClean="0"/>
              <a:t> a </a:t>
            </a:r>
            <a:r>
              <a:rPr lang="en-US" dirty="0" err="1" smtClean="0"/>
              <a:t>ordona</a:t>
            </a:r>
            <a:r>
              <a:rPr lang="en-US" dirty="0" smtClean="0"/>
              <a:t> </a:t>
            </a:r>
            <a:r>
              <a:rPr lang="en-US" dirty="0" err="1" smtClean="0"/>
              <a:t>eficient</a:t>
            </a:r>
            <a:r>
              <a:rPr lang="en-US" dirty="0" smtClean="0"/>
              <a:t> un </a:t>
            </a:r>
            <a:r>
              <a:rPr lang="en-US" dirty="0" err="1" smtClean="0"/>
              <a:t>șir</a:t>
            </a:r>
            <a:r>
              <a:rPr lang="en-US" dirty="0" smtClean="0"/>
              <a:t> de maxim 10000 de </a:t>
            </a:r>
            <a:r>
              <a:rPr lang="en-US" dirty="0" err="1" smtClean="0"/>
              <a:t>cifre</a:t>
            </a:r>
            <a:r>
              <a:rPr lang="en-US" dirty="0" smtClean="0"/>
              <a:t>, o </a:t>
            </a:r>
            <a:r>
              <a:rPr lang="en-US" dirty="0" err="1" smtClean="0"/>
              <a:t>soluție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utilizarea</a:t>
            </a:r>
            <a:r>
              <a:rPr lang="en-US" dirty="0" smtClean="0"/>
              <a:t> </a:t>
            </a:r>
            <a:r>
              <a:rPr lang="en-US" dirty="0" err="1" smtClean="0"/>
              <a:t>tabloului</a:t>
            </a:r>
            <a:r>
              <a:rPr lang="en-US" dirty="0" smtClean="0"/>
              <a:t> de </a:t>
            </a:r>
            <a:r>
              <a:rPr lang="en-US" dirty="0" err="1" smtClean="0"/>
              <a:t>frecvență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err="1" smtClean="0"/>
              <a:t>Dimensiunea</a:t>
            </a:r>
            <a:r>
              <a:rPr lang="en-US" dirty="0" smtClean="0"/>
              <a:t> </a:t>
            </a:r>
            <a:r>
              <a:rPr lang="en-US" dirty="0" err="1" smtClean="0"/>
              <a:t>tabloului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b="1" dirty="0" smtClean="0"/>
              <a:t>10</a:t>
            </a:r>
          </a:p>
          <a:p>
            <a:pPr marL="0" indent="0">
              <a:buNone/>
            </a:pPr>
            <a:r>
              <a:rPr lang="en-US" dirty="0" smtClean="0"/>
              <a:t>La </a:t>
            </a:r>
            <a:r>
              <a:rPr lang="en-US" dirty="0" err="1" smtClean="0"/>
              <a:t>citirea</a:t>
            </a:r>
            <a:r>
              <a:rPr lang="en-US" dirty="0" smtClean="0"/>
              <a:t> </a:t>
            </a:r>
            <a:r>
              <a:rPr lang="en-US" dirty="0" err="1" smtClean="0"/>
              <a:t>fiecărei</a:t>
            </a:r>
            <a:r>
              <a:rPr lang="en-US" dirty="0" smtClean="0"/>
              <a:t> </a:t>
            </a:r>
            <a:r>
              <a:rPr lang="en-US" dirty="0" err="1" smtClean="0"/>
              <a:t>valori</a:t>
            </a:r>
            <a:r>
              <a:rPr lang="en-US" dirty="0" smtClean="0"/>
              <a:t> din </a:t>
            </a:r>
            <a:r>
              <a:rPr lang="en-US" dirty="0" err="1" smtClean="0"/>
              <a:t>fișier</a:t>
            </a:r>
            <a:r>
              <a:rPr lang="en-US" dirty="0" smtClean="0"/>
              <a:t> se </a:t>
            </a:r>
            <a:r>
              <a:rPr lang="en-US" dirty="0" err="1" smtClean="0"/>
              <a:t>vor</a:t>
            </a:r>
            <a:r>
              <a:rPr lang="en-US" dirty="0" smtClean="0"/>
              <a:t> </a:t>
            </a:r>
            <a:r>
              <a:rPr lang="en-US" dirty="0" err="1" smtClean="0"/>
              <a:t>efectua</a:t>
            </a:r>
            <a:r>
              <a:rPr lang="en-US" dirty="0" smtClean="0"/>
              <a:t> </a:t>
            </a:r>
            <a:r>
              <a:rPr lang="en-US" dirty="0" err="1" smtClean="0"/>
              <a:t>operațiile</a:t>
            </a:r>
            <a:r>
              <a:rPr lang="en-US" dirty="0" smtClean="0"/>
              <a:t>: 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ro-RO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235" y="4866218"/>
            <a:ext cx="2286000" cy="10096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3999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Rezolvare</a:t>
            </a:r>
            <a:endParaRPr lang="ro-RO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689" y="1501684"/>
            <a:ext cx="3788441" cy="45856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282906" y="1124764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Limbajul</a:t>
            </a:r>
            <a:r>
              <a:rPr lang="en-US" dirty="0" smtClean="0"/>
              <a:t> C++</a:t>
            </a:r>
            <a:endParaRPr lang="ro-RO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970" y="1501684"/>
            <a:ext cx="3030991" cy="45421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97970" y="1043538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Limbajul</a:t>
            </a:r>
            <a:r>
              <a:rPr lang="en-US" dirty="0" smtClean="0"/>
              <a:t> Pascal</a:t>
            </a:r>
            <a:endParaRPr lang="ro-RO" dirty="0"/>
          </a:p>
        </p:txBody>
      </p:sp>
      <p:sp>
        <p:nvSpPr>
          <p:cNvPr id="8" name="TextBox 7"/>
          <p:cNvSpPr txBox="1"/>
          <p:nvPr/>
        </p:nvSpPr>
        <p:spPr>
          <a:xfrm>
            <a:off x="5060058" y="2363327"/>
            <a:ext cx="242098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Deschiderea</a:t>
            </a:r>
            <a:r>
              <a:rPr lang="en-US" dirty="0" smtClean="0"/>
              <a:t> fi</a:t>
            </a:r>
            <a:r>
              <a:rPr lang="ro-RO" dirty="0" smtClean="0"/>
              <a:t>șierului pentru citire</a:t>
            </a:r>
          </a:p>
          <a:p>
            <a:r>
              <a:rPr lang="ro-RO" dirty="0" smtClean="0"/>
              <a:t>Deschiderea fișierului pentru a scrie datele</a:t>
            </a:r>
          </a:p>
          <a:p>
            <a:r>
              <a:rPr lang="ro-RO" dirty="0" smtClean="0"/>
              <a:t>Declararea tabloului de frecvenț</a:t>
            </a:r>
            <a:r>
              <a:rPr lang="en-US" dirty="0" smtClean="0"/>
              <a:t>ă</a:t>
            </a:r>
            <a:endParaRPr lang="ro-RO" dirty="0"/>
          </a:p>
          <a:p>
            <a:r>
              <a:rPr lang="ro-RO" dirty="0" smtClean="0"/>
              <a:t>Inițializarea tabloului de frecvenț</a:t>
            </a:r>
            <a:r>
              <a:rPr lang="en-US" dirty="0" smtClean="0"/>
              <a:t>ă</a:t>
            </a:r>
            <a:r>
              <a:rPr lang="ro-RO" dirty="0" smtClean="0"/>
              <a:t> cu valoarea 0</a:t>
            </a:r>
          </a:p>
          <a:p>
            <a:r>
              <a:rPr lang="ro-RO" dirty="0" smtClean="0"/>
              <a:t>Contorizarea valorilor</a:t>
            </a:r>
          </a:p>
          <a:p>
            <a:endParaRPr lang="ro-RO" dirty="0"/>
          </a:p>
          <a:p>
            <a:r>
              <a:rPr lang="ro-RO" dirty="0" smtClean="0"/>
              <a:t>Scrierea valorilor în fișier în ordinea cerută</a:t>
            </a:r>
            <a:endParaRPr lang="ro-RO" dirty="0"/>
          </a:p>
          <a:p>
            <a:endParaRPr lang="ro-RO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4632960" y="2603863"/>
            <a:ext cx="531223" cy="20029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132320" y="2603863"/>
            <a:ext cx="635726" cy="25036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 flipV="1">
            <a:off x="4632960" y="3013166"/>
            <a:ext cx="427098" cy="1132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132320" y="3044696"/>
            <a:ext cx="565649" cy="18997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2887677" y="3309257"/>
            <a:ext cx="2172381" cy="36576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7363286" y="3675017"/>
            <a:ext cx="404760" cy="53497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3091543" y="3675017"/>
            <a:ext cx="2072640" cy="7647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3657600" y="4483467"/>
            <a:ext cx="1506583" cy="34979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7146357" y="4483467"/>
            <a:ext cx="838617" cy="3222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4302034" y="5262098"/>
            <a:ext cx="862149" cy="18075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V="1">
            <a:off x="6844937" y="5310602"/>
            <a:ext cx="1367246" cy="3064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45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Aplicații ale tabloului de frecvenț</a:t>
            </a:r>
            <a:r>
              <a:rPr lang="en-US" dirty="0" smtClean="0"/>
              <a:t>ă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 smtClean="0"/>
              <a:t>Aflarea valorilor care nu apar în șir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26010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Exemplu: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193074"/>
            <a:ext cx="9601196" cy="4682794"/>
          </a:xfrm>
        </p:spPr>
        <p:txBody>
          <a:bodyPr>
            <a:normAutofit fontScale="92500" lnSpcReduction="10000"/>
          </a:bodyPr>
          <a:lstStyle/>
          <a:p>
            <a:r>
              <a:rPr lang="ro-RO" dirty="0"/>
              <a:t>Se consideră fişierul BAC.TXT ce conţine </a:t>
            </a:r>
            <a:r>
              <a:rPr lang="ro-RO" b="1" u="sng" dirty="0"/>
              <a:t>cel mult un milion </a:t>
            </a:r>
            <a:r>
              <a:rPr lang="ro-RO" dirty="0"/>
              <a:t>de numere naturale separate prin </a:t>
            </a:r>
            <a:r>
              <a:rPr lang="ro-RO" dirty="0" smtClean="0"/>
              <a:t>spa</a:t>
            </a:r>
            <a:r>
              <a:rPr lang="en-US" dirty="0" smtClean="0"/>
              <a:t>ț</a:t>
            </a:r>
            <a:r>
              <a:rPr lang="ro-RO" dirty="0" smtClean="0"/>
              <a:t>ii</a:t>
            </a:r>
            <a:r>
              <a:rPr lang="ro-RO" dirty="0"/>
              <a:t>, fiecare număr </a:t>
            </a:r>
            <a:r>
              <a:rPr lang="ro-RO" b="1" dirty="0"/>
              <a:t>având cel mult nouă cifre</a:t>
            </a:r>
            <a:r>
              <a:rPr lang="ro-RO" dirty="0"/>
              <a:t>. </a:t>
            </a:r>
            <a:endParaRPr lang="ro-RO" dirty="0" smtClean="0"/>
          </a:p>
          <a:p>
            <a:r>
              <a:rPr lang="ro-RO" dirty="0" smtClean="0"/>
              <a:t>Scrieţi </a:t>
            </a:r>
            <a:r>
              <a:rPr lang="ro-RO" dirty="0"/>
              <a:t>un </a:t>
            </a:r>
            <a:r>
              <a:rPr lang="ro-RO" dirty="0" smtClean="0"/>
              <a:t>program </a:t>
            </a:r>
            <a:r>
              <a:rPr lang="ro-RO" dirty="0"/>
              <a:t>care citeşte toate numerele din fişierul BAC.TXT şi determină, </a:t>
            </a:r>
            <a:r>
              <a:rPr lang="ro-RO" u="sng" dirty="0"/>
              <a:t>folosind un algoritm eficient din punct de vedere timpului de executare</a:t>
            </a:r>
            <a:r>
              <a:rPr lang="ro-RO" dirty="0"/>
              <a:t>, cele mai mari două numere de </a:t>
            </a:r>
            <a:r>
              <a:rPr lang="ro-RO" b="1" u="sng" dirty="0"/>
              <a:t>trei cifre </a:t>
            </a:r>
            <a:r>
              <a:rPr lang="ro-RO" dirty="0"/>
              <a:t>care nu se află în fişier. Cele două numere vor fi afişate pe ecran în ordine descrescătoare, cu un spaţiu între ele. </a:t>
            </a:r>
            <a:endParaRPr lang="ro-RO" dirty="0" smtClean="0"/>
          </a:p>
          <a:p>
            <a:r>
              <a:rPr lang="ro-RO" dirty="0" smtClean="0"/>
              <a:t>Dacă </a:t>
            </a:r>
            <a:r>
              <a:rPr lang="ro-RO" dirty="0"/>
              <a:t>nu pot fi determinate două astfel de numere, programul va afişa pe ecran </a:t>
            </a:r>
            <a:r>
              <a:rPr lang="en-US" dirty="0" err="1" smtClean="0"/>
              <a:t>mesajul</a:t>
            </a:r>
            <a:r>
              <a:rPr lang="en-US" dirty="0" smtClean="0"/>
              <a:t> “</a:t>
            </a:r>
            <a:r>
              <a:rPr lang="en-US" b="1" dirty="0" smtClean="0"/>
              <a:t>nu </a:t>
            </a:r>
            <a:r>
              <a:rPr lang="en-US" b="1" dirty="0" err="1" smtClean="0"/>
              <a:t>exista</a:t>
            </a:r>
            <a:r>
              <a:rPr lang="en-US" dirty="0" smtClean="0"/>
              <a:t>”</a:t>
            </a:r>
            <a:r>
              <a:rPr lang="ro-RO" dirty="0" smtClean="0"/>
              <a:t>. </a:t>
            </a:r>
          </a:p>
          <a:p>
            <a:pPr marL="0" indent="0">
              <a:buNone/>
            </a:pPr>
            <a:r>
              <a:rPr lang="ro-RO" b="1" dirty="0" smtClean="0"/>
              <a:t>Exemplu</a:t>
            </a:r>
            <a:r>
              <a:rPr lang="ro-RO" dirty="0"/>
              <a:t>: dacă fişierul BAC.TXT conţine numerele: 12 2345 123 67 989 6 999 123 67 989 </a:t>
            </a:r>
            <a:r>
              <a:rPr lang="ro-RO" dirty="0" smtClean="0"/>
              <a:t>999, atunci   programul </a:t>
            </a:r>
            <a:r>
              <a:rPr lang="ro-RO" dirty="0"/>
              <a:t>va afişa 998 </a:t>
            </a:r>
            <a:r>
              <a:rPr lang="ro-RO" dirty="0" smtClean="0"/>
              <a:t>997</a:t>
            </a:r>
          </a:p>
          <a:p>
            <a:pPr marL="0" indent="0">
              <a:buNone/>
            </a:pPr>
            <a:r>
              <a:rPr lang="ro-RO" b="1" dirty="0" smtClean="0"/>
              <a:t>Rezolvare</a:t>
            </a:r>
            <a:r>
              <a:rPr lang="ro-RO" dirty="0" smtClean="0"/>
              <a:t>: se va considera un tablou de frecvenț</a:t>
            </a:r>
            <a:r>
              <a:rPr lang="en-US" dirty="0" smtClean="0"/>
              <a:t>ă</a:t>
            </a:r>
            <a:r>
              <a:rPr lang="ro-RO" dirty="0" smtClean="0"/>
              <a:t> de dimensiune </a:t>
            </a:r>
            <a:r>
              <a:rPr lang="ro-RO" b="1" dirty="0" smtClean="0"/>
              <a:t>1000</a:t>
            </a:r>
          </a:p>
          <a:p>
            <a:r>
              <a:rPr lang="ro-RO" dirty="0" smtClean="0"/>
              <a:t>Se vor afișa cele mai mari două numere de 3 cifre care au frecvența 0. 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155782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177290"/>
            <a:ext cx="4084478" cy="469857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Rezolvare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2594" y="1177290"/>
            <a:ext cx="3117669" cy="46985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o-RO" sz="2000" dirty="0" smtClean="0"/>
          </a:p>
          <a:p>
            <a:pPr marL="0" indent="0">
              <a:buNone/>
            </a:pPr>
            <a:endParaRPr lang="ro-RO" sz="2000" dirty="0"/>
          </a:p>
          <a:p>
            <a:pPr marL="0" indent="0">
              <a:buNone/>
            </a:pPr>
            <a:r>
              <a:rPr lang="ro-RO" sz="2000" dirty="0" smtClean="0"/>
              <a:t>Deschiderea fișierului pentru citire</a:t>
            </a:r>
          </a:p>
          <a:p>
            <a:pPr marL="0" indent="0">
              <a:buNone/>
            </a:pPr>
            <a:r>
              <a:rPr lang="ro-RO" sz="2000" dirty="0" smtClean="0"/>
              <a:t>Citirea valorilor din fișier</a:t>
            </a:r>
          </a:p>
          <a:p>
            <a:pPr marL="0" indent="0">
              <a:buNone/>
            </a:pPr>
            <a:r>
              <a:rPr lang="ro-RO" sz="2000" dirty="0" smtClean="0"/>
              <a:t>Parcurgerea valorilor începând cu valoarea 999 și memorarea în variabilele maxim1 și maxim2 a celor mai mari două valori care au frecvența 0</a:t>
            </a:r>
          </a:p>
          <a:p>
            <a:pPr marL="0" indent="0">
              <a:buNone/>
            </a:pPr>
            <a:r>
              <a:rPr lang="ro-RO" sz="2000" dirty="0" smtClean="0"/>
              <a:t>Afișarea rezultatului</a:t>
            </a:r>
            <a:endParaRPr lang="ro-RO" sz="2000" dirty="0"/>
          </a:p>
          <a:p>
            <a:pPr marL="0" indent="0">
              <a:buNone/>
            </a:pPr>
            <a:endParaRPr lang="ro-RO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1202271" y="669909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Limbajul</a:t>
            </a:r>
            <a:r>
              <a:rPr lang="en-US" dirty="0" smtClean="0"/>
              <a:t> C++</a:t>
            </a:r>
            <a:endParaRPr lang="ro-RO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868" y="1177290"/>
            <a:ext cx="3138624" cy="363271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64774" y="669909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 smtClean="0"/>
              <a:t>Limbajul Pascal</a:t>
            </a:r>
            <a:endParaRPr lang="ro-RO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868" y="4810009"/>
            <a:ext cx="3140383" cy="955065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H="1">
            <a:off x="3301037" y="2386149"/>
            <a:ext cx="1758643" cy="957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7524206" y="2255520"/>
            <a:ext cx="724662" cy="2264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2394857" y="2673531"/>
            <a:ext cx="2577737" cy="3744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602583" y="3039291"/>
            <a:ext cx="740228" cy="1132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3" idx="1"/>
          </p:cNvCxnSpPr>
          <p:nvPr/>
        </p:nvCxnSpPr>
        <p:spPr>
          <a:xfrm flipH="1" flipV="1">
            <a:off x="2037806" y="3492137"/>
            <a:ext cx="2934788" cy="344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7524206" y="3509554"/>
            <a:ext cx="722903" cy="2612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4127863" y="4362994"/>
            <a:ext cx="940525" cy="870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6958149" y="4484914"/>
            <a:ext cx="183750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3526971" y="5425440"/>
            <a:ext cx="1489166" cy="87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7132320" y="5399314"/>
            <a:ext cx="1210491" cy="783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220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Probleme</a:t>
            </a:r>
            <a:r>
              <a:rPr lang="en-US" dirty="0" smtClean="0"/>
              <a:t> care au o </a:t>
            </a:r>
            <a:r>
              <a:rPr lang="en-US" dirty="0" err="1" smtClean="0"/>
              <a:t>rezolvare</a:t>
            </a:r>
            <a:r>
              <a:rPr lang="en-US" dirty="0" smtClean="0"/>
              <a:t> </a:t>
            </a:r>
            <a:r>
              <a:rPr lang="en-US" dirty="0" err="1" smtClean="0"/>
              <a:t>eficientă</a:t>
            </a:r>
            <a:r>
              <a:rPr lang="en-US" dirty="0" smtClean="0"/>
              <a:t> </a:t>
            </a:r>
            <a:r>
              <a:rPr lang="en-US" dirty="0" err="1" smtClean="0"/>
              <a:t>utilizând</a:t>
            </a:r>
            <a:r>
              <a:rPr lang="en-US" dirty="0" smtClean="0"/>
              <a:t> </a:t>
            </a:r>
            <a:r>
              <a:rPr lang="en-US" dirty="0" err="1" smtClean="0"/>
              <a:t>tabloul</a:t>
            </a:r>
            <a:r>
              <a:rPr lang="en-US" dirty="0" smtClean="0"/>
              <a:t> de </a:t>
            </a:r>
            <a:r>
              <a:rPr lang="en-US" dirty="0" err="1" smtClean="0"/>
              <a:t>frecvență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3003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2271" y="644624"/>
            <a:ext cx="9601196" cy="478781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Bacalaureat</a:t>
            </a:r>
            <a:r>
              <a:rPr lang="en-US" dirty="0"/>
              <a:t> </a:t>
            </a:r>
            <a:r>
              <a:rPr lang="en-US" dirty="0" smtClean="0"/>
              <a:t>2020, </a:t>
            </a:r>
            <a:r>
              <a:rPr lang="ro-RO" dirty="0" err="1" smtClean="0"/>
              <a:t>s</a:t>
            </a:r>
            <a:r>
              <a:rPr lang="en-US" dirty="0" err="1" smtClean="0"/>
              <a:t>esiunea</a:t>
            </a:r>
            <a:r>
              <a:rPr lang="en-US" dirty="0" smtClean="0"/>
              <a:t> </a:t>
            </a:r>
            <a:r>
              <a:rPr lang="en-US" dirty="0" err="1" smtClean="0"/>
              <a:t>iulie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4110" y="3704582"/>
            <a:ext cx="9601196" cy="1895241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Se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utiliza</a:t>
            </a:r>
            <a:r>
              <a:rPr lang="en-US" dirty="0" smtClean="0"/>
              <a:t> un </a:t>
            </a:r>
            <a:r>
              <a:rPr lang="en-US" dirty="0" err="1" smtClean="0"/>
              <a:t>tablou</a:t>
            </a:r>
            <a:r>
              <a:rPr lang="en-US" dirty="0" smtClean="0"/>
              <a:t> de </a:t>
            </a:r>
            <a:r>
              <a:rPr lang="en-US" dirty="0" err="1" smtClean="0"/>
              <a:t>frecvență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care se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reține</a:t>
            </a:r>
            <a:r>
              <a:rPr lang="en-US" dirty="0" smtClean="0"/>
              <a:t> </a:t>
            </a:r>
            <a:r>
              <a:rPr lang="en-US" dirty="0" err="1" smtClean="0"/>
              <a:t>frecvența</a:t>
            </a:r>
            <a:r>
              <a:rPr lang="en-US" dirty="0" smtClean="0"/>
              <a:t> </a:t>
            </a:r>
            <a:r>
              <a:rPr lang="en-US" dirty="0" err="1" smtClean="0"/>
              <a:t>valorilor</a:t>
            </a:r>
            <a:r>
              <a:rPr lang="en-US" dirty="0"/>
              <a:t> </a:t>
            </a:r>
            <a:r>
              <a:rPr lang="en-US" dirty="0" smtClean="0"/>
              <a:t>din </a:t>
            </a:r>
            <a:r>
              <a:rPr lang="en-US" dirty="0" err="1" smtClean="0"/>
              <a:t>șir</a:t>
            </a:r>
            <a:r>
              <a:rPr lang="en-US" dirty="0" smtClean="0"/>
              <a:t>.</a:t>
            </a:r>
          </a:p>
          <a:p>
            <a:r>
              <a:rPr lang="ro-RO" dirty="0" smtClean="0"/>
              <a:t>Se parcurge tabloul de frecvenț</a:t>
            </a:r>
            <a:r>
              <a:rPr lang="en-US" dirty="0" smtClean="0"/>
              <a:t>ă</a:t>
            </a:r>
            <a:r>
              <a:rPr lang="ro-RO" dirty="0" smtClean="0"/>
              <a:t> și se numără câte valori impare există în</a:t>
            </a:r>
            <a:r>
              <a:rPr lang="en-US" dirty="0"/>
              <a:t> </a:t>
            </a:r>
            <a:r>
              <a:rPr lang="en-US" dirty="0" err="1" smtClean="0"/>
              <a:t>tabloul</a:t>
            </a:r>
            <a:r>
              <a:rPr lang="en-US" dirty="0" smtClean="0"/>
              <a:t> de </a:t>
            </a:r>
            <a:r>
              <a:rPr lang="en-US" dirty="0" err="1" smtClean="0"/>
              <a:t>frecvență</a:t>
            </a:r>
            <a:r>
              <a:rPr lang="en-US" dirty="0" smtClean="0"/>
              <a:t> </a:t>
            </a:r>
            <a:r>
              <a:rPr lang="en-US" dirty="0" err="1" smtClean="0"/>
              <a:t>utilizând</a:t>
            </a:r>
            <a:r>
              <a:rPr lang="en-US" dirty="0" smtClean="0"/>
              <a:t> o </a:t>
            </a:r>
            <a:r>
              <a:rPr lang="en-US" dirty="0" err="1" smtClean="0"/>
              <a:t>variabilă</a:t>
            </a:r>
            <a:r>
              <a:rPr lang="ro-RO" dirty="0" smtClean="0"/>
              <a:t> </a:t>
            </a:r>
            <a:r>
              <a:rPr lang="ro-RO" b="1" dirty="0" smtClean="0"/>
              <a:t>nr</a:t>
            </a:r>
            <a:r>
              <a:rPr lang="ro-RO" dirty="0" smtClean="0"/>
              <a:t>.</a:t>
            </a:r>
          </a:p>
          <a:p>
            <a:r>
              <a:rPr lang="en-US" dirty="0" smtClean="0"/>
              <a:t>Se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analiza</a:t>
            </a:r>
            <a:r>
              <a:rPr lang="en-US" dirty="0" smtClean="0"/>
              <a:t> </a:t>
            </a:r>
            <a:r>
              <a:rPr lang="ro-RO" dirty="0" smtClean="0"/>
              <a:t>valoarea variabilei </a:t>
            </a:r>
            <a:r>
              <a:rPr lang="ro-RO" b="1" dirty="0" smtClean="0"/>
              <a:t>nr</a:t>
            </a:r>
            <a:r>
              <a:rPr lang="ro-RO" dirty="0" smtClean="0"/>
              <a:t> </a:t>
            </a:r>
            <a:r>
              <a:rPr lang="en-US" dirty="0" smtClean="0"/>
              <a:t>: </a:t>
            </a:r>
            <a:r>
              <a:rPr lang="ro-RO" dirty="0" smtClean="0"/>
              <a:t>dacă valoarea reținută în nr este cel mult </a:t>
            </a:r>
            <a:r>
              <a:rPr lang="ro-RO" b="1" dirty="0" smtClean="0"/>
              <a:t>1</a:t>
            </a:r>
            <a:r>
              <a:rPr lang="ro-RO" dirty="0" smtClean="0"/>
              <a:t> se va afișa valoarea </a:t>
            </a:r>
            <a:r>
              <a:rPr lang="ro-RO" b="1" dirty="0" smtClean="0"/>
              <a:t>DA</a:t>
            </a:r>
            <a:r>
              <a:rPr lang="ro-RO" dirty="0" smtClean="0"/>
              <a:t>, altfel se va afișa valoarea </a:t>
            </a:r>
            <a:r>
              <a:rPr lang="ro-RO" b="1" dirty="0" smtClean="0"/>
              <a:t>NU</a:t>
            </a:r>
            <a:r>
              <a:rPr lang="ro-RO" dirty="0" smtClean="0"/>
              <a:t>.</a:t>
            </a:r>
            <a:endParaRPr lang="en-US" dirty="0"/>
          </a:p>
          <a:p>
            <a:pPr marL="0" indent="0">
              <a:buNone/>
            </a:pPr>
            <a:endParaRPr lang="ro-RO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324" y="1311216"/>
            <a:ext cx="9522143" cy="22055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83844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2" y="1178859"/>
            <a:ext cx="3849475" cy="49891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Rezolvare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628" y="1265450"/>
            <a:ext cx="2960915" cy="4706211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dirty="0" err="1" smtClean="0"/>
              <a:t>Deschiderea</a:t>
            </a:r>
            <a:r>
              <a:rPr lang="en-US" dirty="0" smtClean="0"/>
              <a:t> f</a:t>
            </a:r>
            <a:r>
              <a:rPr lang="ro-RO" dirty="0" smtClean="0"/>
              <a:t>ișierului pentru citire</a:t>
            </a:r>
          </a:p>
          <a:p>
            <a:r>
              <a:rPr lang="ro-RO" dirty="0" smtClean="0"/>
              <a:t>Citirea din fișier</a:t>
            </a:r>
          </a:p>
          <a:p>
            <a:r>
              <a:rPr lang="ro-RO" dirty="0" smtClean="0"/>
              <a:t>Frecvența valorilor</a:t>
            </a:r>
          </a:p>
          <a:p>
            <a:r>
              <a:rPr lang="ro-RO" dirty="0" smtClean="0"/>
              <a:t>Valoarea maximă</a:t>
            </a:r>
          </a:p>
          <a:p>
            <a:r>
              <a:rPr lang="ro-RO" dirty="0" smtClean="0"/>
              <a:t>Numărul valorilor care au frecvența impară</a:t>
            </a:r>
          </a:p>
          <a:p>
            <a:r>
              <a:rPr lang="ro-RO" dirty="0" smtClean="0"/>
              <a:t>Afișarea rezultatului</a:t>
            </a:r>
            <a:endParaRPr lang="ro-RO" dirty="0"/>
          </a:p>
        </p:txBody>
      </p:sp>
      <p:sp>
        <p:nvSpPr>
          <p:cNvPr id="5" name="TextBox 4"/>
          <p:cNvSpPr txBox="1"/>
          <p:nvPr/>
        </p:nvSpPr>
        <p:spPr>
          <a:xfrm>
            <a:off x="1387409" y="669909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Limbajul</a:t>
            </a:r>
            <a:r>
              <a:rPr lang="en-US" dirty="0" smtClean="0"/>
              <a:t> C++</a:t>
            </a:r>
            <a:endParaRPr lang="ro-RO" dirty="0"/>
          </a:p>
        </p:txBody>
      </p:sp>
      <p:sp>
        <p:nvSpPr>
          <p:cNvPr id="6" name="TextBox 5"/>
          <p:cNvSpPr txBox="1"/>
          <p:nvPr/>
        </p:nvSpPr>
        <p:spPr>
          <a:xfrm>
            <a:off x="8184449" y="669909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Limbajul</a:t>
            </a:r>
            <a:r>
              <a:rPr lang="en-US" dirty="0" smtClean="0"/>
              <a:t> Pascal</a:t>
            </a:r>
            <a:endParaRPr lang="ro-RO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375" y="1152797"/>
            <a:ext cx="3251083" cy="4818864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>
            <a:off x="4232366" y="2255520"/>
            <a:ext cx="696685" cy="58347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7045234" y="2342606"/>
            <a:ext cx="708141" cy="348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169920" y="3091543"/>
            <a:ext cx="1532708" cy="1828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7045234" y="3036778"/>
            <a:ext cx="708141" cy="4640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3" idx="1"/>
          </p:cNvCxnSpPr>
          <p:nvPr/>
        </p:nvCxnSpPr>
        <p:spPr>
          <a:xfrm flipH="1">
            <a:off x="3788229" y="3618556"/>
            <a:ext cx="914399" cy="1000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315200" y="3678085"/>
            <a:ext cx="696686" cy="4638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3579223" y="4005943"/>
            <a:ext cx="1213237" cy="1542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7225368" y="4141939"/>
            <a:ext cx="786518" cy="212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3169920" y="4563291"/>
            <a:ext cx="1759131" cy="238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7158446" y="4711337"/>
            <a:ext cx="853440" cy="4180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3640183" y="5338354"/>
            <a:ext cx="1152277" cy="3483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7480663" y="5442857"/>
            <a:ext cx="461554" cy="226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12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Aplicatie – ordonarea valorilor</a:t>
            </a:r>
            <a:endParaRPr lang="ro-RO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5806" y="1973067"/>
            <a:ext cx="9601200" cy="21174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1271451" y="4450080"/>
            <a:ext cx="9605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 smtClean="0"/>
              <a:t>Rezolvare</a:t>
            </a:r>
            <a:r>
              <a:rPr lang="ro-RO" sz="2400" dirty="0" smtClean="0"/>
              <a:t>: Se va utiliza un tablou de frecvenț</a:t>
            </a:r>
            <a:r>
              <a:rPr lang="en-US" sz="2400" dirty="0" smtClean="0"/>
              <a:t>ă</a:t>
            </a:r>
            <a:r>
              <a:rPr lang="ro-RO" sz="2400" dirty="0" smtClean="0"/>
              <a:t> de dimensiune 100</a:t>
            </a:r>
            <a:r>
              <a:rPr lang="en-US" sz="2400" dirty="0" smtClean="0"/>
              <a:t>1</a:t>
            </a:r>
            <a:r>
              <a:rPr lang="ro-RO" sz="2400" dirty="0" smtClean="0"/>
              <a:t>, în care se va memora frecvența valorilor din șir. </a:t>
            </a:r>
          </a:p>
          <a:p>
            <a:r>
              <a:rPr lang="ro-RO" sz="2400" dirty="0" smtClean="0"/>
              <a:t>Se vor afișa valorile impare care apar în șir. Apoi se vor afișa valorile pare.</a:t>
            </a:r>
            <a:endParaRPr lang="ro-RO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349829" y="1375954"/>
            <a:ext cx="5634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 smtClean="0"/>
              <a:t>Bacalaureat 2019, Sesiunea August</a:t>
            </a:r>
            <a:endParaRPr lang="ro-RO" sz="2400" dirty="0"/>
          </a:p>
        </p:txBody>
      </p:sp>
    </p:spTree>
    <p:extLst>
      <p:ext uri="{BB962C8B-B14F-4D97-AF65-F5344CB8AC3E}">
        <p14:creationId xmlns:p14="http://schemas.microsoft.com/office/powerpoint/2010/main" val="1776084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Rezolvare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4246" y="1181706"/>
            <a:ext cx="2678006" cy="4694162"/>
          </a:xfrm>
        </p:spPr>
        <p:txBody>
          <a:bodyPr>
            <a:normAutofit fontScale="92500"/>
          </a:bodyPr>
          <a:lstStyle/>
          <a:p>
            <a:r>
              <a:rPr lang="en-US" dirty="0" err="1" smtClean="0"/>
              <a:t>Deschiderea</a:t>
            </a:r>
            <a:r>
              <a:rPr lang="en-US" dirty="0" smtClean="0"/>
              <a:t> fi</a:t>
            </a:r>
            <a:r>
              <a:rPr lang="ro-RO" dirty="0" smtClean="0"/>
              <a:t>ș</a:t>
            </a:r>
            <a:r>
              <a:rPr lang="en-US" dirty="0" err="1" smtClean="0"/>
              <a:t>ierului</a:t>
            </a:r>
            <a:r>
              <a:rPr lang="ro-RO" dirty="0" smtClean="0"/>
              <a:t> pentru citire</a:t>
            </a:r>
          </a:p>
          <a:p>
            <a:r>
              <a:rPr lang="ro-RO" dirty="0" smtClean="0"/>
              <a:t>Citirea valorilor</a:t>
            </a:r>
          </a:p>
          <a:p>
            <a:r>
              <a:rPr lang="ro-RO" dirty="0" smtClean="0"/>
              <a:t>Frecvența valorilor</a:t>
            </a:r>
          </a:p>
          <a:p>
            <a:r>
              <a:rPr lang="ro-RO" dirty="0" smtClean="0"/>
              <a:t>Valoarea maximă din șir</a:t>
            </a:r>
          </a:p>
          <a:p>
            <a:r>
              <a:rPr lang="ro-RO" dirty="0" smtClean="0"/>
              <a:t>Afișarea valorilor impare </a:t>
            </a:r>
          </a:p>
          <a:p>
            <a:r>
              <a:rPr lang="ro-RO" dirty="0" smtClean="0"/>
              <a:t>Afișarea valorilor pare</a:t>
            </a:r>
            <a:endParaRPr lang="ro-RO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1" y="1181706"/>
            <a:ext cx="3605715" cy="47575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382" y="1141226"/>
            <a:ext cx="2853963" cy="49680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66083" y="669909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Limbajul</a:t>
            </a:r>
            <a:r>
              <a:rPr lang="en-US" dirty="0" smtClean="0"/>
              <a:t> C++</a:t>
            </a:r>
            <a:endParaRPr lang="ro-RO" dirty="0"/>
          </a:p>
        </p:txBody>
      </p:sp>
      <p:sp>
        <p:nvSpPr>
          <p:cNvPr id="7" name="TextBox 6"/>
          <p:cNvSpPr txBox="1"/>
          <p:nvPr/>
        </p:nvSpPr>
        <p:spPr>
          <a:xfrm>
            <a:off x="7923192" y="605154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Limbajul</a:t>
            </a:r>
            <a:r>
              <a:rPr lang="en-US" dirty="0" smtClean="0"/>
              <a:t> Pascal</a:t>
            </a:r>
            <a:endParaRPr lang="ro-RO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4397829" y="1820091"/>
            <a:ext cx="940525" cy="6270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7201989" y="1759131"/>
            <a:ext cx="563393" cy="5225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3439886" y="2516777"/>
            <a:ext cx="1554360" cy="5747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201989" y="2589574"/>
            <a:ext cx="844731" cy="9392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3764849" y="3091543"/>
            <a:ext cx="1322527" cy="3504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7410994" y="3091543"/>
            <a:ext cx="635726" cy="6792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3764849" y="3695527"/>
            <a:ext cx="1461230" cy="2581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7201989" y="3875315"/>
            <a:ext cx="937861" cy="2111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4426112" y="4389120"/>
            <a:ext cx="799967" cy="3286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7201989" y="4450080"/>
            <a:ext cx="937861" cy="3320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H="1">
            <a:off x="4397829" y="5277394"/>
            <a:ext cx="689547" cy="1132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7280366" y="5271900"/>
            <a:ext cx="766354" cy="22963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069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Testul de antrenament nr.8, Subiectul III.3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1454331"/>
            <a:ext cx="9601196" cy="4676503"/>
          </a:xfrm>
        </p:spPr>
        <p:txBody>
          <a:bodyPr>
            <a:normAutofit fontScale="92500" lnSpcReduction="10000"/>
          </a:bodyPr>
          <a:lstStyle/>
          <a:p>
            <a:endParaRPr lang="ro-RO" dirty="0" smtClean="0"/>
          </a:p>
          <a:p>
            <a:endParaRPr lang="ro-RO" dirty="0"/>
          </a:p>
          <a:p>
            <a:endParaRPr lang="ro-RO" dirty="0" smtClean="0"/>
          </a:p>
          <a:p>
            <a:endParaRPr lang="ro-RO" dirty="0"/>
          </a:p>
          <a:p>
            <a:r>
              <a:rPr lang="ro-RO" b="1" dirty="0" smtClean="0"/>
              <a:t>Rezolvare</a:t>
            </a:r>
            <a:r>
              <a:rPr lang="ro-RO" dirty="0" smtClean="0"/>
              <a:t>: </a:t>
            </a:r>
            <a:r>
              <a:rPr lang="en-US" dirty="0" smtClean="0"/>
              <a:t>se </a:t>
            </a:r>
            <a:r>
              <a:rPr lang="en-US" dirty="0" err="1" smtClean="0"/>
              <a:t>vor</a:t>
            </a:r>
            <a:r>
              <a:rPr lang="en-US" dirty="0" smtClean="0"/>
              <a:t> </a:t>
            </a:r>
            <a:r>
              <a:rPr lang="en-US" dirty="0" err="1" smtClean="0"/>
              <a:t>utiliza</a:t>
            </a:r>
            <a:r>
              <a:rPr lang="en-US" dirty="0" smtClean="0"/>
              <a:t> </a:t>
            </a:r>
            <a:r>
              <a:rPr lang="ro-RO" dirty="0" smtClean="0"/>
              <a:t>2</a:t>
            </a:r>
            <a:r>
              <a:rPr lang="en-US" dirty="0" smtClean="0"/>
              <a:t> </a:t>
            </a:r>
            <a:r>
              <a:rPr lang="en-US" dirty="0" err="1" smtClean="0"/>
              <a:t>tablouri</a:t>
            </a:r>
            <a:r>
              <a:rPr lang="en-US" dirty="0" smtClean="0"/>
              <a:t> </a:t>
            </a:r>
            <a:r>
              <a:rPr lang="ro-RO" dirty="0" smtClean="0"/>
              <a:t>unidimensionale de dimensiune 10 </a:t>
            </a:r>
            <a:r>
              <a:rPr lang="en-US" dirty="0" err="1" smtClean="0"/>
              <a:t>astfel</a:t>
            </a:r>
            <a:r>
              <a:rPr lang="en-US" dirty="0" smtClean="0"/>
              <a:t>: </a:t>
            </a:r>
          </a:p>
          <a:p>
            <a:pPr lvl="1"/>
            <a:r>
              <a:rPr lang="ro-RO" dirty="0" smtClean="0"/>
              <a:t>un tablou de frecvenț</a:t>
            </a:r>
            <a:r>
              <a:rPr lang="en-US" dirty="0" smtClean="0"/>
              <a:t>ă</a:t>
            </a:r>
            <a:r>
              <a:rPr lang="ro-RO" dirty="0" smtClean="0"/>
              <a:t> în care se va reține frecvența cifrelor unităților numerelor din șirul de valori;</a:t>
            </a:r>
          </a:p>
          <a:p>
            <a:pPr lvl="1"/>
            <a:r>
              <a:rPr lang="ro-RO" dirty="0" smtClean="0"/>
              <a:t>un tablou în care se va reține ultima poziție </a:t>
            </a:r>
            <a:r>
              <a:rPr lang="en-US" dirty="0" smtClean="0"/>
              <a:t>a </a:t>
            </a:r>
            <a:r>
              <a:rPr lang="ro-RO" dirty="0" smtClean="0"/>
              <a:t>numărului care conține cifra unităților.</a:t>
            </a:r>
          </a:p>
          <a:p>
            <a:r>
              <a:rPr lang="ro-RO" dirty="0" smtClean="0"/>
              <a:t>Se va calcula numărul maxim de apariții ale cifrelor.</a:t>
            </a:r>
          </a:p>
          <a:p>
            <a:r>
              <a:rPr lang="ro-RO" dirty="0" smtClean="0"/>
              <a:t>Se parcurge tabloul de frecvenț</a:t>
            </a:r>
            <a:r>
              <a:rPr lang="en-US" dirty="0" smtClean="0"/>
              <a:t>ă</a:t>
            </a:r>
            <a:r>
              <a:rPr lang="ro-RO" dirty="0" smtClean="0"/>
              <a:t> și se vor afișa pozițiile cifrelor care au număr maxim de apariții.</a:t>
            </a:r>
            <a:endParaRPr lang="ro-RO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1" y="1311216"/>
            <a:ext cx="9601196" cy="173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406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Rezolvare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2271" y="1422196"/>
            <a:ext cx="9601196" cy="4538147"/>
          </a:xfrm>
        </p:spPr>
        <p:txBody>
          <a:bodyPr/>
          <a:lstStyle/>
          <a:p>
            <a:r>
              <a:rPr lang="ro-RO" sz="2000" b="1" dirty="0" smtClean="0"/>
              <a:t>Pasul 1</a:t>
            </a:r>
            <a:r>
              <a:rPr lang="ro-RO" sz="2000" dirty="0" smtClean="0"/>
              <a:t>: se inițializează tablourile v pentru frecvența valorilor și p pentru pozițiile acestora în tablou cu valoarea 0</a:t>
            </a:r>
          </a:p>
          <a:p>
            <a:endParaRPr lang="ro-RO" dirty="0"/>
          </a:p>
          <a:p>
            <a:pPr marL="0" indent="0">
              <a:buNone/>
            </a:pPr>
            <a:endParaRPr lang="ro-RO" b="1" dirty="0" smtClean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o-RO" sz="2000" b="1" dirty="0" smtClean="0"/>
              <a:t>Pasul 2</a:t>
            </a:r>
            <a:r>
              <a:rPr lang="ro-RO" sz="2000" dirty="0" smtClean="0"/>
              <a:t>: se citește valoarea 112: cifra unităților este 2, iar poziția în șir este 1. Cele două tablouri se modifică astfel:</a:t>
            </a:r>
          </a:p>
          <a:p>
            <a:endParaRPr lang="ro-RO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o-RO" sz="2000" dirty="0" smtClean="0"/>
          </a:p>
          <a:p>
            <a:r>
              <a:rPr lang="ro-RO" sz="2000" dirty="0" smtClean="0"/>
              <a:t>Se </a:t>
            </a:r>
            <a:r>
              <a:rPr lang="ro-RO" sz="2000" dirty="0"/>
              <a:t>citește valoarea 12 din șir: ultima cifra este 2 și poziția în șir este 2. Tablourile se modifică astfel: </a:t>
            </a:r>
          </a:p>
          <a:p>
            <a:endParaRPr lang="ro-RO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161" y="1938368"/>
            <a:ext cx="4214948" cy="9165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206" y="3586723"/>
            <a:ext cx="4066903" cy="9271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872" y="5120352"/>
            <a:ext cx="4021237" cy="83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2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Rezolvare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" y="1587260"/>
            <a:ext cx="9860277" cy="4288608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dirty="0" smtClean="0"/>
              <a:t>Se citește valoarea 5 din șir: ultima cifră este 5 și poziția în șir este 3. Tablourile se modifică astfel: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o-RO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o-RO" sz="2000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o-RO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dirty="0" smtClean="0"/>
              <a:t>Se citeste valoarea 88 din șir: ultima cifra este 8 și poziția în șir este 4. Tablourile se modifică astfel: 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o-RO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o-RO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000" dirty="0" smtClean="0"/>
              <a:t>După citirea valorilor tablourilor vor avea valorile: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ro-RO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067" y="1936693"/>
            <a:ext cx="4459197" cy="9011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067" y="3266215"/>
            <a:ext cx="4459197" cy="96469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862" y="4344348"/>
            <a:ext cx="4437156" cy="92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831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Rezolvare</a:t>
            </a:r>
            <a:endParaRPr lang="ro-RO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033" y="1200337"/>
            <a:ext cx="3226460" cy="48055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332412" y="783120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Limbajul</a:t>
            </a:r>
            <a:r>
              <a:rPr lang="en-US" dirty="0" smtClean="0"/>
              <a:t> C++</a:t>
            </a:r>
            <a:endParaRPr lang="ro-RO" dirty="0"/>
          </a:p>
        </p:txBody>
      </p:sp>
      <p:grpSp>
        <p:nvGrpSpPr>
          <p:cNvPr id="8" name="Group 7"/>
          <p:cNvGrpSpPr/>
          <p:nvPr/>
        </p:nvGrpSpPr>
        <p:grpSpPr>
          <a:xfrm>
            <a:off x="7957322" y="1152452"/>
            <a:ext cx="2597412" cy="5029838"/>
            <a:chOff x="7103882" y="1152452"/>
            <a:chExt cx="2597412" cy="502983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03882" y="1152452"/>
              <a:ext cx="2597412" cy="364597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03882" y="4798423"/>
              <a:ext cx="2597412" cy="138386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sp>
        <p:nvSpPr>
          <p:cNvPr id="9" name="TextBox 8"/>
          <p:cNvSpPr txBox="1"/>
          <p:nvPr/>
        </p:nvSpPr>
        <p:spPr>
          <a:xfrm>
            <a:off x="8206645" y="669909"/>
            <a:ext cx="2098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Limbajul</a:t>
            </a:r>
            <a:r>
              <a:rPr lang="en-US" dirty="0" smtClean="0"/>
              <a:t> Pascal</a:t>
            </a:r>
            <a:endParaRPr lang="ro-RO" dirty="0"/>
          </a:p>
        </p:txBody>
      </p:sp>
      <p:sp>
        <p:nvSpPr>
          <p:cNvPr id="10" name="TextBox 9"/>
          <p:cNvSpPr txBox="1"/>
          <p:nvPr/>
        </p:nvSpPr>
        <p:spPr>
          <a:xfrm>
            <a:off x="4693920" y="1715589"/>
            <a:ext cx="283028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err="1" smtClean="0"/>
              <a:t>Deschiderea</a:t>
            </a:r>
            <a:r>
              <a:rPr lang="en-US" dirty="0" smtClean="0"/>
              <a:t> fi</a:t>
            </a:r>
            <a:r>
              <a:rPr lang="ro-RO" dirty="0" smtClean="0"/>
              <a:t>ș</a:t>
            </a:r>
            <a:r>
              <a:rPr lang="en-US" dirty="0" err="1" smtClean="0"/>
              <a:t>ierului</a:t>
            </a:r>
            <a:r>
              <a:rPr lang="en-US" dirty="0" smtClean="0"/>
              <a:t> </a:t>
            </a:r>
            <a:r>
              <a:rPr lang="en-US" b="1" dirty="0" smtClean="0"/>
              <a:t>bac.in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a </a:t>
            </a:r>
            <a:r>
              <a:rPr lang="en-US" dirty="0" err="1" smtClean="0"/>
              <a:t>citi</a:t>
            </a:r>
            <a:r>
              <a:rPr lang="en-US" dirty="0" smtClean="0"/>
              <a:t> din el</a:t>
            </a:r>
            <a:endParaRPr lang="ro-RO" dirty="0" smtClean="0"/>
          </a:p>
          <a:p>
            <a:r>
              <a:rPr lang="ro-RO" dirty="0" smtClean="0"/>
              <a:t>Inițializarea vectorilor v și p cu valoarea 0</a:t>
            </a:r>
          </a:p>
          <a:p>
            <a:endParaRPr lang="ro-RO" dirty="0"/>
          </a:p>
          <a:p>
            <a:r>
              <a:rPr lang="ro-RO" dirty="0" smtClean="0"/>
              <a:t>Citirea șirului de valori din fișier</a:t>
            </a:r>
          </a:p>
          <a:p>
            <a:r>
              <a:rPr lang="ro-RO" dirty="0" smtClean="0"/>
              <a:t>Frecvența ultimei cifre a valorii curente</a:t>
            </a:r>
          </a:p>
          <a:p>
            <a:r>
              <a:rPr lang="ro-RO" dirty="0" smtClean="0"/>
              <a:t>Poziția ultimei cifre</a:t>
            </a:r>
          </a:p>
          <a:p>
            <a:endParaRPr lang="ro-RO" dirty="0"/>
          </a:p>
          <a:p>
            <a:r>
              <a:rPr lang="ro-RO" dirty="0" smtClean="0"/>
              <a:t>Calcularea frecvenței maxime</a:t>
            </a:r>
          </a:p>
          <a:p>
            <a:endParaRPr lang="ro-RO" dirty="0"/>
          </a:p>
          <a:p>
            <a:r>
              <a:rPr lang="ro-RO" dirty="0" smtClean="0"/>
              <a:t>Afișarea poziției valorilor cu frecvența maximă</a:t>
            </a:r>
          </a:p>
          <a:p>
            <a:endParaRPr lang="ro-RO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431178" y="2220686"/>
            <a:ext cx="1341119" cy="2438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524206" y="2224498"/>
            <a:ext cx="43311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2381795" y="2717074"/>
            <a:ext cx="2312125" cy="3744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6862354" y="2894650"/>
            <a:ext cx="1602377" cy="749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2682484" y="3492137"/>
            <a:ext cx="2089814" cy="348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7219406" y="3570514"/>
            <a:ext cx="737916" cy="706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1"/>
          </p:cNvCxnSpPr>
          <p:nvPr/>
        </p:nvCxnSpPr>
        <p:spPr>
          <a:xfrm flipH="1">
            <a:off x="3537857" y="4116246"/>
            <a:ext cx="1156063" cy="324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7162733" y="4116246"/>
            <a:ext cx="1043912" cy="1985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2987040" y="4308251"/>
            <a:ext cx="1785257" cy="3357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6727305" y="4553057"/>
            <a:ext cx="1415209" cy="1849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2821577" y="5048374"/>
            <a:ext cx="1985609" cy="2116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7434909" y="5219131"/>
            <a:ext cx="70760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 flipV="1">
            <a:off x="3169920" y="5564777"/>
            <a:ext cx="1524000" cy="1915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7162733" y="5895703"/>
            <a:ext cx="1043912" cy="1101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427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 smtClean="0"/>
              <a:t>Vă mulțumesc pentru atenție</a:t>
            </a:r>
            <a:endParaRPr lang="ro-R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301879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F7B716EBE1A942B4AA52A6C43183ED" ma:contentTypeVersion="9" ma:contentTypeDescription="Creați un document nou." ma:contentTypeScope="" ma:versionID="118862b41d23bdc27b75a397b822be8f">
  <xsd:schema xmlns:xsd="http://www.w3.org/2001/XMLSchema" xmlns:xs="http://www.w3.org/2001/XMLSchema" xmlns:p="http://schemas.microsoft.com/office/2006/metadata/properties" xmlns:ns2="d3e3badc-7853-408c-9ab3-9d03ad37677c" xmlns:ns3="67abbcbd-b682-4ec8-947d-bea77713e923" targetNamespace="http://schemas.microsoft.com/office/2006/metadata/properties" ma:root="true" ma:fieldsID="864613a80106ffac26e7bc684482a9d9" ns2:_="" ns3:_="">
    <xsd:import namespace="d3e3badc-7853-408c-9ab3-9d03ad37677c"/>
    <xsd:import namespace="67abbcbd-b682-4ec8-947d-bea77713e9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e3badc-7853-408c-9ab3-9d03ad3767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chete imagine" ma:readOnly="false" ma:fieldId="{5cf76f15-5ced-4ddc-b409-7134ff3c332f}" ma:taxonomyMulti="true" ma:sspId="d7d0bfe8-6933-4eef-a9cd-bd2677926b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abbcbd-b682-4ec8-947d-bea77713e923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936745e-a240-48bf-877b-e2ee5baf9267}" ma:internalName="TaxCatchAll" ma:showField="CatchAllData" ma:web="67abbcbd-b682-4ec8-947d-bea77713e9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abbcbd-b682-4ec8-947d-bea77713e923" xsi:nil="true"/>
    <lcf76f155ced4ddcb4097134ff3c332f xmlns="d3e3badc-7853-408c-9ab3-9d03ad37677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40605B1-D8BB-4BBA-9327-34CC50D8439B}"/>
</file>

<file path=customXml/itemProps2.xml><?xml version="1.0" encoding="utf-8"?>
<ds:datastoreItem xmlns:ds="http://schemas.openxmlformats.org/officeDocument/2006/customXml" ds:itemID="{F8847E3B-9316-49CB-A792-FFAF56C209D8}"/>
</file>

<file path=customXml/itemProps3.xml><?xml version="1.0" encoding="utf-8"?>
<ds:datastoreItem xmlns:ds="http://schemas.openxmlformats.org/officeDocument/2006/customXml" ds:itemID="{75A607AD-6826-4408-802B-314498FCA5F1}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6752</TotalTime>
  <Words>1405</Words>
  <Application>Microsoft Office PowerPoint</Application>
  <PresentationFormat>Widescreen</PresentationFormat>
  <Paragraphs>174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Garamond</vt:lpstr>
      <vt:lpstr>Organic</vt:lpstr>
      <vt:lpstr>Frecvența valorilor într-un șir de valori</vt:lpstr>
      <vt:lpstr>Frecvența valorilor</vt:lpstr>
      <vt:lpstr>Tabloul de frecvență</vt:lpstr>
      <vt:lpstr>Tabloul de frecvență – observații</vt:lpstr>
      <vt:lpstr>Crearea tabloului de frecvență</vt:lpstr>
      <vt:lpstr>Crearea tabloului de frecvență</vt:lpstr>
      <vt:lpstr>Crearea tabloului de frecvență</vt:lpstr>
      <vt:lpstr>Crearea tabloului de frecvență</vt:lpstr>
      <vt:lpstr>Crearea tabloului de frecvențe</vt:lpstr>
      <vt:lpstr>Aplicații ale tabloului de frecvență</vt:lpstr>
      <vt:lpstr>Exemplu</vt:lpstr>
      <vt:lpstr>Rezolvare</vt:lpstr>
      <vt:lpstr>Aplicații ale tabloului de frecvență</vt:lpstr>
      <vt:lpstr>Exemplu:</vt:lpstr>
      <vt:lpstr>Rezolvare</vt:lpstr>
      <vt:lpstr>Probleme care au o rezolvare eficientă utilizând tabloul de frecvență</vt:lpstr>
      <vt:lpstr>Bacalaureat 2020, sesiunea iulie</vt:lpstr>
      <vt:lpstr>Rezolvare</vt:lpstr>
      <vt:lpstr>Aplicatie – ordonarea valorilor</vt:lpstr>
      <vt:lpstr>Rezolvare</vt:lpstr>
      <vt:lpstr>Testul de antrenament nr.8, Subiectul III.3</vt:lpstr>
      <vt:lpstr>Rezolvare</vt:lpstr>
      <vt:lpstr>Rezolvare</vt:lpstr>
      <vt:lpstr>Rezolvare</vt:lpstr>
      <vt:lpstr>Vă mulțumesc pentru atenție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Frecvența valorilor într-un șir de valori</dc:title>
  <dc:creator>Microsoft account</dc:creator>
  <cp:lastModifiedBy>Microsoft account</cp:lastModifiedBy>
  <cp:revision>98</cp:revision>
  <dcterms:created xsi:type="dcterms:W3CDTF">2020-10-28T20:29:24Z</dcterms:created>
  <dcterms:modified xsi:type="dcterms:W3CDTF">2020-12-02T09:27:48Z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0x010100EDF7B716EBE1A942B4AA52A6C43183ED</vt:lpwstr>
  </property>
</Properties>
</file>